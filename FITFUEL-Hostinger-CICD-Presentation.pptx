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2B1E8-F851-51BB-12C6-7C4F749EA0D9}"/>
              </a:ext>
            </a:extLst>
          </p:cNvPr>
          <p:cNvSpPr>
            <a:spLocks noGrp="1"/>
          </p:cNvSpPr>
          <p:nvPr>
            <p:ph type="ctrTitle"/>
          </p:nvPr>
        </p:nvSpPr>
        <p:spPr>
          <a:xfrm>
            <a:off x="1524000" y="1122364"/>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224702D-CFFE-56A2-8F0D-F71E44865F7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F54974-1D66-60C1-EDF1-73E7E3F38B67}"/>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F8872C21-431F-91B2-92CD-187B5EFAEC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14D781-5485-0E02-9BC2-DE7923EC8450}"/>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3528545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E680-7BCA-1DD6-5518-F726AFB3AA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ADB011-6BC4-C89D-20EC-8CF414C924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5D0F4C-4734-A58A-BE2A-10975F213DFB}"/>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DE2FC895-7F0C-6C53-44D8-640FE69A6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B074F9-6549-D77D-54C1-6D8887891BB2}"/>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198544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792A-4510-C9E4-EEE5-0D5D473D2B21}"/>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5EF5D8-7B8F-4A78-BB25-E3D1EC4FEFDE}"/>
              </a:ext>
            </a:extLst>
          </p:cNvPr>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5E0CCB-8729-87D1-BA3F-F92F7569FB93}"/>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F180AAFE-672D-774D-BF2E-DCF37BCB10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06684A-A569-A4C0-6B89-9A60A6716AEA}"/>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3154309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1EA8-24CB-56B3-1CA4-810A0FA838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A3BAC1-A8CC-EAE5-9DA9-97CF906C38C7}"/>
              </a:ext>
            </a:extLst>
          </p:cNvPr>
          <p:cNvSpPr>
            <a:spLocks noGrp="1"/>
          </p:cNvSpPr>
          <p:nvPr>
            <p:ph sz="half" idx="1"/>
          </p:nvPr>
        </p:nvSpPr>
        <p:spPr>
          <a:xfrm>
            <a:off x="838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967EB2-7C2B-09F2-9CDB-D438D6341050}"/>
              </a:ext>
            </a:extLst>
          </p:cNvPr>
          <p:cNvSpPr>
            <a:spLocks noGrp="1"/>
          </p:cNvSpPr>
          <p:nvPr>
            <p:ph sz="half" idx="2"/>
          </p:nvPr>
        </p:nvSpPr>
        <p:spPr>
          <a:xfrm>
            <a:off x="6172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34A61B-B36B-BA0E-FFB3-91B44502E4ED}"/>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6" name="Footer Placeholder 5">
            <a:extLst>
              <a:ext uri="{FF2B5EF4-FFF2-40B4-BE49-F238E27FC236}">
                <a16:creationId xmlns:a16="http://schemas.microsoft.com/office/drawing/2014/main" id="{BABEEEA2-7CB5-3DB3-10DA-D25958CE52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93DB9E-466F-B1BE-16FB-FFF938271CBD}"/>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1638034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F801D-30AA-1E2E-4A9F-D7895CECA1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60AA97-5771-26AF-0D55-8319409243E3}"/>
              </a:ext>
            </a:extLst>
          </p:cNvPr>
          <p:cNvSpPr>
            <a:spLocks noGrp="1"/>
          </p:cNvSpPr>
          <p:nvPr>
            <p:ph type="body" idx="1"/>
          </p:nvPr>
        </p:nvSpPr>
        <p:spPr>
          <a:xfrm>
            <a:off x="839790" y="1681164"/>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DA0DC-3921-CD24-1034-68369D81121B}"/>
              </a:ext>
            </a:extLst>
          </p:cNvPr>
          <p:cNvSpPr>
            <a:spLocks noGrp="1"/>
          </p:cNvSpPr>
          <p:nvPr>
            <p:ph sz="half" idx="2"/>
          </p:nvPr>
        </p:nvSpPr>
        <p:spPr>
          <a:xfrm>
            <a:off x="839790"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DB8530-543C-759E-75D6-650EA4BCD891}"/>
              </a:ext>
            </a:extLst>
          </p:cNvPr>
          <p:cNvSpPr>
            <a:spLocks noGrp="1"/>
          </p:cNvSpPr>
          <p:nvPr>
            <p:ph type="body" sz="quarter" idx="3"/>
          </p:nvPr>
        </p:nvSpPr>
        <p:spPr>
          <a:xfrm>
            <a:off x="6172201" y="1681164"/>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0D973A0-9F17-29E0-66FA-E365E4A4BEE9}"/>
              </a:ext>
            </a:extLst>
          </p:cNvPr>
          <p:cNvSpPr>
            <a:spLocks noGrp="1"/>
          </p:cNvSpPr>
          <p:nvPr>
            <p:ph sz="quarter" idx="4"/>
          </p:nvPr>
        </p:nvSpPr>
        <p:spPr>
          <a:xfrm>
            <a:off x="6172201"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91CE64-F256-770E-6C38-54C41C0EFB00}"/>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8" name="Footer Placeholder 7">
            <a:extLst>
              <a:ext uri="{FF2B5EF4-FFF2-40B4-BE49-F238E27FC236}">
                <a16:creationId xmlns:a16="http://schemas.microsoft.com/office/drawing/2014/main" id="{34DAB386-22C1-DAEB-E80B-1F76093DE4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E49B75-40DC-94C4-E5B0-849634DCD248}"/>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76193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C962B-DF5C-016C-7B16-E7849B00BB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177974-4873-547F-4AD9-522C86499938}"/>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4" name="Footer Placeholder 3">
            <a:extLst>
              <a:ext uri="{FF2B5EF4-FFF2-40B4-BE49-F238E27FC236}">
                <a16:creationId xmlns:a16="http://schemas.microsoft.com/office/drawing/2014/main" id="{6195829A-723D-45D3-7A96-1F955A9FF9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B52121-E1B9-49FB-3230-91AE064548D8}"/>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3711752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085137-6CDA-F3FD-2F0C-4F9BB0C252FE}"/>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3" name="Footer Placeholder 2">
            <a:extLst>
              <a:ext uri="{FF2B5EF4-FFF2-40B4-BE49-F238E27FC236}">
                <a16:creationId xmlns:a16="http://schemas.microsoft.com/office/drawing/2014/main" id="{24AC0C68-FDA8-C940-9DDB-7E23CE3C7A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5275E4-A5EF-614B-D85C-FDA87CB4A6C1}"/>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3281947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58838-8A69-3D4C-9455-17AAA5D5CF66}"/>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C68B37-B671-524F-10F7-F5243B427243}"/>
              </a:ext>
            </a:extLst>
          </p:cNvPr>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F7CB74-E096-73BB-BFA1-6A3306C8F090}"/>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547D00A-A432-F8C7-67B3-83AA18E5E53C}"/>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6" name="Footer Placeholder 5">
            <a:extLst>
              <a:ext uri="{FF2B5EF4-FFF2-40B4-BE49-F238E27FC236}">
                <a16:creationId xmlns:a16="http://schemas.microsoft.com/office/drawing/2014/main" id="{47A50D8F-4A92-AB6A-0A66-18757261D6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D4526B-21FE-D50B-64BB-743884D11E57}"/>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4029178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4699-5862-8C80-3FD4-F9833CDF2793}"/>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D5FCE6-9F5A-ED19-E787-9D5036C4DD4E}"/>
              </a:ext>
            </a:extLst>
          </p:cNvPr>
          <p:cNvSpPr>
            <a:spLocks noGrp="1" noChangeAspect="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6A44ABB4-0224-5FC3-445A-EB06ECD9F043}"/>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4EB884-C86D-0FF0-9EE2-BB5DBA4C9609}"/>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6" name="Footer Placeholder 5">
            <a:extLst>
              <a:ext uri="{FF2B5EF4-FFF2-40B4-BE49-F238E27FC236}">
                <a16:creationId xmlns:a16="http://schemas.microsoft.com/office/drawing/2014/main" id="{00FF4BDE-D41A-03B7-8615-78647445CF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1EE177-04CF-B0A4-5260-FC673CF2767D}"/>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1361432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C184-4D0A-E569-7D5D-488F46997D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4A024D-AAD6-5A84-FB70-9B84AAE893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76928-6E8F-12C5-C331-E94523849E06}"/>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8BD66232-5BD7-31B6-1E60-62928ADC82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87DB2F-445C-3E95-064B-9105EFB3B0EE}"/>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2833513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450FE5-A04C-C1C6-E89E-8D8AA6E3433B}"/>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3E010-57AA-73C2-A47D-DFE98FD89744}"/>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A7C4A1-AD5F-E73D-D62E-C7FA225A2306}"/>
              </a:ext>
            </a:extLst>
          </p:cNvPr>
          <p:cNvSpPr>
            <a:spLocks noGrp="1"/>
          </p:cNvSpPr>
          <p:nvPr>
            <p:ph type="dt" sz="half" idx="10"/>
          </p:nvPr>
        </p:nvSpPr>
        <p:spPr/>
        <p:txBody>
          <a:body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99D2591A-CBB5-E91E-0811-2236BDC302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3966A-CBA0-5BC1-E10E-86F8FD695370}"/>
              </a:ext>
            </a:extLst>
          </p:cNvPr>
          <p:cNvSpPr>
            <a:spLocks noGrp="1"/>
          </p:cNvSpPr>
          <p:nvPr>
            <p:ph type="sldNum" sz="quarter" idx="12"/>
          </p:nvPr>
        </p:nvSpPr>
        <p:spPr/>
        <p:txBody>
          <a:bodyPr/>
          <a:lstStyle/>
          <a:p>
            <a:fld id="{888A7CBC-9126-4018-AF33-2704988135CF}" type="slidenum">
              <a:rPr lang="en-IN" smtClean="0"/>
              <a:t>‹#›</a:t>
            </a:fld>
            <a:endParaRPr lang="en-IN"/>
          </a:p>
        </p:txBody>
      </p:sp>
    </p:spTree>
    <p:extLst>
      <p:ext uri="{BB962C8B-B14F-4D97-AF65-F5344CB8AC3E}">
        <p14:creationId xmlns:p14="http://schemas.microsoft.com/office/powerpoint/2010/main" val="1298980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A9A6D4-87F3-A241-5F03-FB54BC04B2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4F5D8F-40D6-1F9A-E286-BAA78A7D3E54}"/>
              </a:ext>
            </a:extLst>
          </p:cNvPr>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53DC59-5323-FD5A-5386-385FC554C7F7}"/>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9AB6104-0C8D-486C-8E4A-F14DC0FE006F}" type="datetimeFigureOut">
              <a:rPr lang="en-IN" smtClean="0"/>
              <a:t>14-10-2026</a:t>
            </a:fld>
            <a:endParaRPr lang="en-IN"/>
          </a:p>
        </p:txBody>
      </p:sp>
      <p:sp>
        <p:nvSpPr>
          <p:cNvPr id="5" name="Footer Placeholder 4">
            <a:extLst>
              <a:ext uri="{FF2B5EF4-FFF2-40B4-BE49-F238E27FC236}">
                <a16:creationId xmlns:a16="http://schemas.microsoft.com/office/drawing/2014/main" id="{930D0381-2B27-600D-7EB8-228C6979CB54}"/>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4ED8803-D74A-F555-6FA3-5B5D95A88DCD}"/>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88A7CBC-9126-4018-AF33-2704988135CF}" type="slidenum">
              <a:rPr lang="en-IN" smtClean="0"/>
              <a:t>‹#›</a:t>
            </a:fld>
            <a:endParaRPr lang="en-IN"/>
          </a:p>
        </p:txBody>
      </p:sp>
    </p:spTree>
    <p:extLst>
      <p:ext uri="{BB962C8B-B14F-4D97-AF65-F5344CB8AC3E}">
        <p14:creationId xmlns:p14="http://schemas.microsoft.com/office/powerpoint/2010/main" val="4233783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B1DD09-4922-2111-3EE6-A34445AB0600}"/>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AE6ABA0-AAF4-FB99-B5CD-3297F9CF8F83}"/>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F0502020204030204" pitchFamily="34" charset="0"/>
              </a:rPr>
              <a:t>FITFUEL  |  PROJECT WALKTHROUGH</a:t>
            </a:r>
          </a:p>
        </p:txBody>
      </p:sp>
      <p:sp>
        <p:nvSpPr>
          <p:cNvPr id="4" name="TextBox 3">
            <a:extLst>
              <a:ext uri="{FF2B5EF4-FFF2-40B4-BE49-F238E27FC236}">
                <a16:creationId xmlns:a16="http://schemas.microsoft.com/office/drawing/2014/main" id="{20AE14BA-1E93-C2B3-6485-4AE509FF5554}"/>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F0502020204030204" pitchFamily="34" charset="0"/>
              </a:rPr>
              <a:t>Maine kya banaya?</a:t>
            </a:r>
          </a:p>
        </p:txBody>
      </p:sp>
      <p:sp>
        <p:nvSpPr>
          <p:cNvPr id="5" name="Rectangle 4">
            <a:extLst>
              <a:ext uri="{FF2B5EF4-FFF2-40B4-BE49-F238E27FC236}">
                <a16:creationId xmlns:a16="http://schemas.microsoft.com/office/drawing/2014/main" id="{B413B7C7-F005-4D43-1FA4-6BA5AE31DCD2}"/>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88828B9-0D39-039F-3ACE-621464A01451}"/>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1 / 8</a:t>
            </a:r>
            <a:endParaRPr lang="en-IN" sz="1000">
              <a:solidFill>
                <a:srgbClr val="C8BEB5"/>
              </a:solidFill>
              <a:latin typeface="Aptos" panose="020B0004020202020204" pitchFamily="34" charset="0"/>
            </a:endParaRPr>
          </a:p>
        </p:txBody>
      </p:sp>
      <p:sp>
        <p:nvSpPr>
          <p:cNvPr id="7" name="TextBox 6">
            <a:extLst>
              <a:ext uri="{FF2B5EF4-FFF2-40B4-BE49-F238E27FC236}">
                <a16:creationId xmlns:a16="http://schemas.microsoft.com/office/drawing/2014/main" id="{7BE0467B-A8BB-A2B7-1AE6-0A043FEE821E}"/>
              </a:ext>
            </a:extLst>
          </p:cNvPr>
          <p:cNvSpPr txBox="1"/>
          <p:nvPr/>
        </p:nvSpPr>
        <p:spPr>
          <a:xfrm>
            <a:off x="889000" y="1905000"/>
            <a:ext cx="10160000" cy="738664"/>
          </a:xfrm>
          <a:prstGeom prst="rect">
            <a:avLst/>
          </a:prstGeom>
          <a:noFill/>
        </p:spPr>
        <p:txBody>
          <a:bodyPr vert="horz" wrap="square" lIns="0" tIns="0" rIns="0" bIns="0" rtlCol="0" anchor="t">
            <a:spAutoFit/>
          </a:bodyPr>
          <a:lstStyle/>
          <a:p>
            <a:r>
              <a:rPr lang="en-IN" sz="4800" b="1">
                <a:solidFill>
                  <a:srgbClr val="B0D652"/>
                </a:solidFill>
                <a:latin typeface="Aptos" panose="020B0004020202020204" pitchFamily="34" charset="0"/>
              </a:rPr>
              <a:t>FITFUEL</a:t>
            </a:r>
          </a:p>
        </p:txBody>
      </p:sp>
      <p:sp>
        <p:nvSpPr>
          <p:cNvPr id="8" name="TextBox 7">
            <a:extLst>
              <a:ext uri="{FF2B5EF4-FFF2-40B4-BE49-F238E27FC236}">
                <a16:creationId xmlns:a16="http://schemas.microsoft.com/office/drawing/2014/main" id="{75D0E3C3-1ED5-D014-A0DB-C94AD95A4714}"/>
              </a:ext>
            </a:extLst>
          </p:cNvPr>
          <p:cNvSpPr txBox="1"/>
          <p:nvPr/>
        </p:nvSpPr>
        <p:spPr>
          <a:xfrm>
            <a:off x="889000" y="2895600"/>
            <a:ext cx="10287000" cy="461665"/>
          </a:xfrm>
          <a:prstGeom prst="rect">
            <a:avLst/>
          </a:prstGeom>
          <a:noFill/>
        </p:spPr>
        <p:txBody>
          <a:bodyPr vert="horz" wrap="square" lIns="0" tIns="0" rIns="0" bIns="0" rtlCol="0" anchor="t">
            <a:spAutoFit/>
          </a:bodyPr>
          <a:lstStyle/>
          <a:p>
            <a:r>
              <a:rPr lang="en-IN" sz="3000" b="1">
                <a:solidFill>
                  <a:srgbClr val="F8F6F4"/>
                </a:solidFill>
                <a:latin typeface="Aptos" panose="020B0004020202020204" pitchFamily="34" charset="0"/>
              </a:rPr>
              <a:t>GitHub Actions se Hostinger deployment pipeline</a:t>
            </a:r>
          </a:p>
        </p:txBody>
      </p:sp>
      <p:sp>
        <p:nvSpPr>
          <p:cNvPr id="9" name="TextBox 8">
            <a:extLst>
              <a:ext uri="{FF2B5EF4-FFF2-40B4-BE49-F238E27FC236}">
                <a16:creationId xmlns:a16="http://schemas.microsoft.com/office/drawing/2014/main" id="{9FA5CF3C-CCDB-E643-2800-B03DBBF2B924}"/>
              </a:ext>
            </a:extLst>
          </p:cNvPr>
          <p:cNvSpPr txBox="1"/>
          <p:nvPr/>
        </p:nvSpPr>
        <p:spPr>
          <a:xfrm>
            <a:off x="914400" y="3898900"/>
            <a:ext cx="9779000" cy="292388"/>
          </a:xfrm>
          <a:prstGeom prst="rect">
            <a:avLst/>
          </a:prstGeom>
          <a:noFill/>
        </p:spPr>
        <p:txBody>
          <a:bodyPr vert="horz" wrap="square" lIns="0" tIns="0" rIns="0" bIns="0" rtlCol="0" anchor="t">
            <a:spAutoFit/>
          </a:bodyPr>
          <a:lstStyle/>
          <a:p>
            <a:r>
              <a:rPr lang="en-IN" sz="1900">
                <a:solidFill>
                  <a:srgbClr val="C8BEB5"/>
                </a:solidFill>
                <a:latin typeface="Aptos" panose="020B0004020202020204" pitchFamily="34" charset="0"/>
              </a:rPr>
              <a:t>Code push ke baad automatic checks, static build aur FTPS deployment ka setup.</a:t>
            </a:r>
          </a:p>
        </p:txBody>
      </p:sp>
      <p:sp>
        <p:nvSpPr>
          <p:cNvPr id="10" name="Rectangle: Rounded Corners 9">
            <a:extLst>
              <a:ext uri="{FF2B5EF4-FFF2-40B4-BE49-F238E27FC236}">
                <a16:creationId xmlns:a16="http://schemas.microsoft.com/office/drawing/2014/main" id="{2E7AC854-489F-A989-21AB-7C1543352D11}"/>
              </a:ext>
            </a:extLst>
          </p:cNvPr>
          <p:cNvSpPr/>
          <p:nvPr/>
        </p:nvSpPr>
        <p:spPr>
          <a:xfrm>
            <a:off x="914400" y="4953000"/>
            <a:ext cx="6350000" cy="6858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B6EB9D1-EAD9-CB1C-E073-74AEEC2DB348}"/>
              </a:ext>
            </a:extLst>
          </p:cNvPr>
          <p:cNvSpPr txBox="1"/>
          <p:nvPr/>
        </p:nvSpPr>
        <p:spPr>
          <a:xfrm>
            <a:off x="1168400" y="5156200"/>
            <a:ext cx="5905500" cy="216085"/>
          </a:xfrm>
          <a:prstGeom prst="rect">
            <a:avLst/>
          </a:prstGeom>
          <a:noFill/>
        </p:spPr>
        <p:txBody>
          <a:bodyPr vert="horz" wrap="square" lIns="0" tIns="0" rIns="0" bIns="0" rtlCol="0" anchor="t">
            <a:spAutoFit/>
          </a:bodyPr>
          <a:lstStyle/>
          <a:p>
            <a:r>
              <a:rPr lang="en-US" sz="1400" b="1">
                <a:solidFill>
                  <a:srgbClr val="FFB420"/>
                </a:solidFill>
                <a:latin typeface="Aptos" panose="020B0004020202020204" pitchFamily="34" charset="0"/>
              </a:rPr>
              <a:t>STATUS: checks/build PASS  •  Hostinger upload abhi BLOCKED</a:t>
            </a:r>
            <a:endParaRPr lang="en-IN" sz="1400" b="1">
              <a:solidFill>
                <a:srgbClr val="FFB420"/>
              </a:solidFill>
              <a:latin typeface="Aptos" panose="020B0004020202020204" pitchFamily="34" charset="0"/>
            </a:endParaRPr>
          </a:p>
        </p:txBody>
      </p:sp>
    </p:spTree>
    <p:extLst>
      <p:ext uri="{BB962C8B-B14F-4D97-AF65-F5344CB8AC3E}">
        <p14:creationId xmlns:p14="http://schemas.microsoft.com/office/powerpoint/2010/main" val="161912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7524BA-BF6D-02A2-16CE-448BDCDDE029}"/>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ACA373D-C2E5-17E4-E2EA-5ED79349B3E8}"/>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D72D0A88-FA4F-0B02-1206-1EAB2A0356AE}"/>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US" sz="2800" b="1">
                <a:solidFill>
                  <a:srgbClr val="F8F6F4"/>
                </a:solidFill>
                <a:latin typeface="Aptos" panose="020B0004020202020204" pitchFamily="34" charset="0"/>
              </a:rPr>
              <a:t>Goal: manual upload kam, safe release zyada</a:t>
            </a:r>
            <a:endParaRPr lang="en-IN" sz="2800" b="1">
              <a:solidFill>
                <a:srgbClr val="F8F6F4"/>
              </a:solidFill>
              <a:latin typeface="Aptos" panose="020B0004020202020204" pitchFamily="34" charset="0"/>
            </a:endParaRPr>
          </a:p>
        </p:txBody>
      </p:sp>
      <p:sp>
        <p:nvSpPr>
          <p:cNvPr id="5" name="Rectangle 4">
            <a:extLst>
              <a:ext uri="{FF2B5EF4-FFF2-40B4-BE49-F238E27FC236}">
                <a16:creationId xmlns:a16="http://schemas.microsoft.com/office/drawing/2014/main" id="{5876B1C2-494B-5236-DE1E-70E7F9C5E617}"/>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B85E5B2-0A1C-1266-4E93-CA6E240D9508}"/>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2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BB95AFE0-2E22-3EB8-8318-EB9F0AFA31B1}"/>
              </a:ext>
            </a:extLst>
          </p:cNvPr>
          <p:cNvSpPr/>
          <p:nvPr/>
        </p:nvSpPr>
        <p:spPr>
          <a:xfrm>
            <a:off x="508000" y="2006600"/>
            <a:ext cx="3492500" cy="3302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F729079-B497-DB4B-A00F-8FED1B5C68B2}"/>
              </a:ext>
            </a:extLst>
          </p:cNvPr>
          <p:cNvSpPr/>
          <p:nvPr/>
        </p:nvSpPr>
        <p:spPr>
          <a:xfrm>
            <a:off x="508000" y="2006600"/>
            <a:ext cx="63500" cy="3302000"/>
          </a:xfrm>
          <a:prstGeom prst="rect">
            <a:avLst/>
          </a:prstGeom>
          <a:solidFill>
            <a:srgbClr val="FFB4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29C0BD5-FB46-3F80-1845-E3FB40CBF8B0}"/>
              </a:ext>
            </a:extLst>
          </p:cNvPr>
          <p:cNvSpPr txBox="1"/>
          <p:nvPr/>
        </p:nvSpPr>
        <p:spPr>
          <a:xfrm>
            <a:off x="762000" y="2209800"/>
            <a:ext cx="30099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Pehle</a:t>
            </a:r>
          </a:p>
        </p:txBody>
      </p:sp>
      <p:sp>
        <p:nvSpPr>
          <p:cNvPr id="10" name="TextBox 9">
            <a:extLst>
              <a:ext uri="{FF2B5EF4-FFF2-40B4-BE49-F238E27FC236}">
                <a16:creationId xmlns:a16="http://schemas.microsoft.com/office/drawing/2014/main" id="{5504A0AF-F1DD-9F8D-3056-0509DF328D59}"/>
              </a:ext>
            </a:extLst>
          </p:cNvPr>
          <p:cNvSpPr txBox="1"/>
          <p:nvPr/>
        </p:nvSpPr>
        <p:spPr>
          <a:xfrm>
            <a:off x="762000" y="2679700"/>
            <a:ext cx="3009900" cy="1000274"/>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Har update par manually build karna
Files/ZIP dhoondhna
Hostinger par manually upload
Step miss ya old files upload hone ka risk.</a:t>
            </a:r>
          </a:p>
        </p:txBody>
      </p:sp>
      <p:sp>
        <p:nvSpPr>
          <p:cNvPr id="11" name="Rectangle: Rounded Corners 10">
            <a:extLst>
              <a:ext uri="{FF2B5EF4-FFF2-40B4-BE49-F238E27FC236}">
                <a16:creationId xmlns:a16="http://schemas.microsoft.com/office/drawing/2014/main" id="{E41BCD08-4E32-ED39-F16F-B83FEDB75987}"/>
              </a:ext>
            </a:extLst>
          </p:cNvPr>
          <p:cNvSpPr/>
          <p:nvPr/>
        </p:nvSpPr>
        <p:spPr>
          <a:xfrm>
            <a:off x="4343400" y="2006600"/>
            <a:ext cx="3492500" cy="3302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781AAF6-52DB-A35B-18E1-F1B9E77E3BFA}"/>
              </a:ext>
            </a:extLst>
          </p:cNvPr>
          <p:cNvSpPr/>
          <p:nvPr/>
        </p:nvSpPr>
        <p:spPr>
          <a:xfrm>
            <a:off x="4343400" y="2006600"/>
            <a:ext cx="63500" cy="3302000"/>
          </a:xfrm>
          <a:prstGeom prst="rect">
            <a:avLst/>
          </a:prstGeom>
          <a:solidFill>
            <a:srgbClr val="B0D6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29424AA-E085-1BC3-5C49-B8A09FA32303}"/>
              </a:ext>
            </a:extLst>
          </p:cNvPr>
          <p:cNvSpPr txBox="1"/>
          <p:nvPr/>
        </p:nvSpPr>
        <p:spPr>
          <a:xfrm>
            <a:off x="4597400" y="2209800"/>
            <a:ext cx="30099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Ab kya hota hai</a:t>
            </a:r>
          </a:p>
        </p:txBody>
      </p:sp>
      <p:sp>
        <p:nvSpPr>
          <p:cNvPr id="14" name="TextBox 13">
            <a:extLst>
              <a:ext uri="{FF2B5EF4-FFF2-40B4-BE49-F238E27FC236}">
                <a16:creationId xmlns:a16="http://schemas.microsoft.com/office/drawing/2014/main" id="{2A6DEA3A-14C8-68B7-35FE-BF39EBD56BE2}"/>
              </a:ext>
            </a:extLst>
          </p:cNvPr>
          <p:cNvSpPr txBox="1"/>
          <p:nvPr/>
        </p:nvSpPr>
        <p:spPr>
          <a:xfrm>
            <a:off x="4597400" y="2679700"/>
            <a:ext cx="3009900" cy="1400383"/>
          </a:xfrm>
          <a:prstGeom prst="rect">
            <a:avLst/>
          </a:prstGeom>
          <a:noFill/>
        </p:spPr>
        <p:txBody>
          <a:bodyPr vert="horz" wrap="square" lIns="0" tIns="0" rIns="0" bIns="0" rtlCol="0" anchor="t">
            <a:spAutoFit/>
          </a:bodyPr>
          <a:lstStyle/>
          <a:p>
            <a:r>
              <a:rPr lang="en-US" sz="1300">
                <a:solidFill>
                  <a:srgbClr val="C8BEB5"/>
                </a:solidFill>
                <a:latin typeface="Aptos" panose="020B0004020202020204" pitchFamily="34" charset="0"/>
              </a:rPr>
              <a:t>GitHub par code push hote hi workflow start
Lint + tests + production build
Sab pass hon to Hostinger upload attempt.</a:t>
            </a:r>
            <a:endParaRPr lang="en-IN" sz="1300">
              <a:solidFill>
                <a:srgbClr val="C8BEB5"/>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19EDB90F-52A1-DD9E-6E7A-E85D1B9196E8}"/>
              </a:ext>
            </a:extLst>
          </p:cNvPr>
          <p:cNvSpPr/>
          <p:nvPr/>
        </p:nvSpPr>
        <p:spPr>
          <a:xfrm>
            <a:off x="8178800" y="2006600"/>
            <a:ext cx="3492500" cy="3302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3651956-88D5-C505-B12D-5D18EDEF989D}"/>
              </a:ext>
            </a:extLst>
          </p:cNvPr>
          <p:cNvSpPr/>
          <p:nvPr/>
        </p:nvSpPr>
        <p:spPr>
          <a:xfrm>
            <a:off x="8178800" y="2006600"/>
            <a:ext cx="63500" cy="33020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647A7F33-50D9-C3FE-19DD-9BE4D9F620E9}"/>
              </a:ext>
            </a:extLst>
          </p:cNvPr>
          <p:cNvSpPr txBox="1"/>
          <p:nvPr/>
        </p:nvSpPr>
        <p:spPr>
          <a:xfrm>
            <a:off x="8432800" y="2209800"/>
            <a:ext cx="30099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Important samajh</a:t>
            </a:r>
          </a:p>
        </p:txBody>
      </p:sp>
      <p:sp>
        <p:nvSpPr>
          <p:cNvPr id="18" name="TextBox 17">
            <a:extLst>
              <a:ext uri="{FF2B5EF4-FFF2-40B4-BE49-F238E27FC236}">
                <a16:creationId xmlns:a16="http://schemas.microsoft.com/office/drawing/2014/main" id="{982A9A4D-18B6-18A8-A824-F21234E6B30D}"/>
              </a:ext>
            </a:extLst>
          </p:cNvPr>
          <p:cNvSpPr txBox="1"/>
          <p:nvPr/>
        </p:nvSpPr>
        <p:spPr>
          <a:xfrm>
            <a:off x="8432800" y="2679700"/>
            <a:ext cx="3009900" cy="1000274"/>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Laptop ke local edits apne aap GitHub par push nahi hote.
Pehle commit/push; uske baad GitHub se Hostinger deploy automatic hota hai.</a:t>
            </a:r>
          </a:p>
        </p:txBody>
      </p:sp>
    </p:spTree>
    <p:extLst>
      <p:ext uri="{BB962C8B-B14F-4D97-AF65-F5344CB8AC3E}">
        <p14:creationId xmlns:p14="http://schemas.microsoft.com/office/powerpoint/2010/main" val="2343564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AC2B21-ACF5-C981-FE52-E25854766902}"/>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823E72F-23B7-13DC-C546-8514E2C819E4}"/>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6B03DA10-DA5F-416A-F949-25A72A0BCFDA}"/>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Pipeline ka flow</a:t>
            </a:r>
          </a:p>
        </p:txBody>
      </p:sp>
      <p:sp>
        <p:nvSpPr>
          <p:cNvPr id="5" name="Rectangle 4">
            <a:extLst>
              <a:ext uri="{FF2B5EF4-FFF2-40B4-BE49-F238E27FC236}">
                <a16:creationId xmlns:a16="http://schemas.microsoft.com/office/drawing/2014/main" id="{86DF015E-6D91-7938-AE2B-18B0A3AD36CC}"/>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C52F862-1240-C37C-1BB8-94533F1842D0}"/>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3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3F103C18-0388-7D8E-CE4C-340F4BB594CE}"/>
              </a:ext>
            </a:extLst>
          </p:cNvPr>
          <p:cNvSpPr/>
          <p:nvPr/>
        </p:nvSpPr>
        <p:spPr>
          <a:xfrm>
            <a:off x="482600" y="2590800"/>
            <a:ext cx="2082800" cy="1600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BD3AA26-7C31-A6AA-7F90-6DF2BAA89430}"/>
              </a:ext>
            </a:extLst>
          </p:cNvPr>
          <p:cNvSpPr txBox="1"/>
          <p:nvPr/>
        </p:nvSpPr>
        <p:spPr>
          <a:xfrm>
            <a:off x="635000" y="2857500"/>
            <a:ext cx="1778000" cy="230832"/>
          </a:xfrm>
          <a:prstGeom prst="rect">
            <a:avLst/>
          </a:prstGeom>
          <a:noFill/>
        </p:spPr>
        <p:txBody>
          <a:bodyPr vert="horz" wrap="square" lIns="0" tIns="0" rIns="0" bIns="0" rtlCol="0" anchor="t">
            <a:spAutoFit/>
          </a:bodyPr>
          <a:lstStyle/>
          <a:p>
            <a:r>
              <a:rPr lang="en-IN" sz="1500" b="1">
                <a:solidFill>
                  <a:srgbClr val="B0D652"/>
                </a:solidFill>
                <a:latin typeface="Aptos" panose="020B0004020202020204" pitchFamily="34" charset="0"/>
              </a:rPr>
              <a:t>1  CODE</a:t>
            </a:r>
          </a:p>
        </p:txBody>
      </p:sp>
      <p:sp>
        <p:nvSpPr>
          <p:cNvPr id="9" name="TextBox 8">
            <a:extLst>
              <a:ext uri="{FF2B5EF4-FFF2-40B4-BE49-F238E27FC236}">
                <a16:creationId xmlns:a16="http://schemas.microsoft.com/office/drawing/2014/main" id="{3B80C9A5-BE3C-63B1-A918-E35E23B0B1E7}"/>
              </a:ext>
            </a:extLst>
          </p:cNvPr>
          <p:cNvSpPr txBox="1"/>
          <p:nvPr/>
        </p:nvSpPr>
        <p:spPr>
          <a:xfrm>
            <a:off x="635000" y="3390900"/>
            <a:ext cx="1803400" cy="246221"/>
          </a:xfrm>
          <a:prstGeom prst="rect">
            <a:avLst/>
          </a:prstGeom>
          <a:noFill/>
        </p:spPr>
        <p:txBody>
          <a:bodyPr vert="horz" wrap="square" lIns="0" tIns="0" rIns="0" bIns="0" rtlCol="0" anchor="t">
            <a:spAutoFit/>
          </a:bodyPr>
          <a:lstStyle/>
          <a:p>
            <a:r>
              <a:rPr lang="en-IN" sz="1600">
                <a:solidFill>
                  <a:srgbClr val="F8F6F4"/>
                </a:solidFill>
                <a:latin typeface="Aptos" panose="020B0004020202020204" pitchFamily="34" charset="0"/>
              </a:rPr>
              <a:t>UI/code change</a:t>
            </a:r>
          </a:p>
        </p:txBody>
      </p:sp>
      <p:sp>
        <p:nvSpPr>
          <p:cNvPr id="10" name="Rectangle: Rounded Corners 9">
            <a:extLst>
              <a:ext uri="{FF2B5EF4-FFF2-40B4-BE49-F238E27FC236}">
                <a16:creationId xmlns:a16="http://schemas.microsoft.com/office/drawing/2014/main" id="{D1E56C48-4449-C78E-3C26-BCA021733D0E}"/>
              </a:ext>
            </a:extLst>
          </p:cNvPr>
          <p:cNvSpPr/>
          <p:nvPr/>
        </p:nvSpPr>
        <p:spPr>
          <a:xfrm>
            <a:off x="2781300" y="2590800"/>
            <a:ext cx="2082800" cy="1600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2807DCA-706C-CC93-1A7C-D9A849618568}"/>
              </a:ext>
            </a:extLst>
          </p:cNvPr>
          <p:cNvSpPr txBox="1"/>
          <p:nvPr/>
        </p:nvSpPr>
        <p:spPr>
          <a:xfrm>
            <a:off x="2933700" y="2857500"/>
            <a:ext cx="1778000" cy="230832"/>
          </a:xfrm>
          <a:prstGeom prst="rect">
            <a:avLst/>
          </a:prstGeom>
          <a:noFill/>
        </p:spPr>
        <p:txBody>
          <a:bodyPr vert="horz" wrap="square" lIns="0" tIns="0" rIns="0" bIns="0" rtlCol="0" anchor="t">
            <a:spAutoFit/>
          </a:bodyPr>
          <a:lstStyle/>
          <a:p>
            <a:r>
              <a:rPr lang="en-IN" sz="1500" b="1">
                <a:solidFill>
                  <a:srgbClr val="B0D652"/>
                </a:solidFill>
                <a:latin typeface="Aptos" panose="020B0004020202020204" pitchFamily="34" charset="0"/>
              </a:rPr>
              <a:t>2  PUSH</a:t>
            </a:r>
          </a:p>
        </p:txBody>
      </p:sp>
      <p:sp>
        <p:nvSpPr>
          <p:cNvPr id="12" name="TextBox 11">
            <a:extLst>
              <a:ext uri="{FF2B5EF4-FFF2-40B4-BE49-F238E27FC236}">
                <a16:creationId xmlns:a16="http://schemas.microsoft.com/office/drawing/2014/main" id="{DD0C8D46-68E8-F05D-9080-5115FC1E0507}"/>
              </a:ext>
            </a:extLst>
          </p:cNvPr>
          <p:cNvSpPr txBox="1"/>
          <p:nvPr/>
        </p:nvSpPr>
        <p:spPr>
          <a:xfrm>
            <a:off x="2933700" y="3390900"/>
            <a:ext cx="1803400" cy="246221"/>
          </a:xfrm>
          <a:prstGeom prst="rect">
            <a:avLst/>
          </a:prstGeom>
          <a:noFill/>
        </p:spPr>
        <p:txBody>
          <a:bodyPr vert="horz" wrap="square" lIns="0" tIns="0" rIns="0" bIns="0" rtlCol="0" anchor="t">
            <a:spAutoFit/>
          </a:bodyPr>
          <a:lstStyle/>
          <a:p>
            <a:r>
              <a:rPr lang="en-IN" sz="1600">
                <a:solidFill>
                  <a:srgbClr val="F8F6F4"/>
                </a:solidFill>
                <a:latin typeface="Aptos" panose="020B0004020202020204" pitchFamily="34" charset="0"/>
              </a:rPr>
              <a:t>Commit → main</a:t>
            </a:r>
          </a:p>
        </p:txBody>
      </p:sp>
      <p:sp>
        <p:nvSpPr>
          <p:cNvPr id="13" name="Rectangle: Rounded Corners 12">
            <a:extLst>
              <a:ext uri="{FF2B5EF4-FFF2-40B4-BE49-F238E27FC236}">
                <a16:creationId xmlns:a16="http://schemas.microsoft.com/office/drawing/2014/main" id="{4C3E3C1F-7226-0F41-0436-8A75D920D5A7}"/>
              </a:ext>
            </a:extLst>
          </p:cNvPr>
          <p:cNvSpPr/>
          <p:nvPr/>
        </p:nvSpPr>
        <p:spPr>
          <a:xfrm>
            <a:off x="5080000" y="2590800"/>
            <a:ext cx="2082800" cy="1600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1ACC0A1-09AF-8B5D-52AE-8C450F920EF0}"/>
              </a:ext>
            </a:extLst>
          </p:cNvPr>
          <p:cNvSpPr txBox="1"/>
          <p:nvPr/>
        </p:nvSpPr>
        <p:spPr>
          <a:xfrm>
            <a:off x="5232400" y="2857500"/>
            <a:ext cx="1778000" cy="230832"/>
          </a:xfrm>
          <a:prstGeom prst="rect">
            <a:avLst/>
          </a:prstGeom>
          <a:noFill/>
        </p:spPr>
        <p:txBody>
          <a:bodyPr vert="horz" wrap="square" lIns="0" tIns="0" rIns="0" bIns="0" rtlCol="0" anchor="t">
            <a:spAutoFit/>
          </a:bodyPr>
          <a:lstStyle/>
          <a:p>
            <a:r>
              <a:rPr lang="en-IN" sz="1500" b="1">
                <a:solidFill>
                  <a:srgbClr val="B0D652"/>
                </a:solidFill>
                <a:latin typeface="Aptos" panose="020B0004020202020204" pitchFamily="34" charset="0"/>
              </a:rPr>
              <a:t>3  CHECK</a:t>
            </a:r>
          </a:p>
        </p:txBody>
      </p:sp>
      <p:sp>
        <p:nvSpPr>
          <p:cNvPr id="15" name="TextBox 14">
            <a:extLst>
              <a:ext uri="{FF2B5EF4-FFF2-40B4-BE49-F238E27FC236}">
                <a16:creationId xmlns:a16="http://schemas.microsoft.com/office/drawing/2014/main" id="{5D264571-795E-8D65-40CC-9EEC3D3418C2}"/>
              </a:ext>
            </a:extLst>
          </p:cNvPr>
          <p:cNvSpPr txBox="1"/>
          <p:nvPr/>
        </p:nvSpPr>
        <p:spPr>
          <a:xfrm>
            <a:off x="5232400" y="3390900"/>
            <a:ext cx="1803400" cy="246221"/>
          </a:xfrm>
          <a:prstGeom prst="rect">
            <a:avLst/>
          </a:prstGeom>
          <a:noFill/>
        </p:spPr>
        <p:txBody>
          <a:bodyPr vert="horz" wrap="square" lIns="0" tIns="0" rIns="0" bIns="0" rtlCol="0" anchor="t">
            <a:spAutoFit/>
          </a:bodyPr>
          <a:lstStyle/>
          <a:p>
            <a:r>
              <a:rPr lang="en-IN" sz="1600">
                <a:solidFill>
                  <a:srgbClr val="F8F6F4"/>
                </a:solidFill>
                <a:latin typeface="Aptos" panose="020B0004020202020204" pitchFamily="34" charset="0"/>
              </a:rPr>
              <a:t>Lint + tests</a:t>
            </a:r>
          </a:p>
        </p:txBody>
      </p:sp>
      <p:sp>
        <p:nvSpPr>
          <p:cNvPr id="16" name="Rectangle: Rounded Corners 15">
            <a:extLst>
              <a:ext uri="{FF2B5EF4-FFF2-40B4-BE49-F238E27FC236}">
                <a16:creationId xmlns:a16="http://schemas.microsoft.com/office/drawing/2014/main" id="{0CF55911-6D4B-0771-6039-3D159079D288}"/>
              </a:ext>
            </a:extLst>
          </p:cNvPr>
          <p:cNvSpPr/>
          <p:nvPr/>
        </p:nvSpPr>
        <p:spPr>
          <a:xfrm>
            <a:off x="7378700" y="2590800"/>
            <a:ext cx="2082800" cy="1600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33FB94FA-EA5E-20C1-0DED-39166E7C7420}"/>
              </a:ext>
            </a:extLst>
          </p:cNvPr>
          <p:cNvSpPr txBox="1"/>
          <p:nvPr/>
        </p:nvSpPr>
        <p:spPr>
          <a:xfrm>
            <a:off x="7531100" y="2857500"/>
            <a:ext cx="1778000" cy="230832"/>
          </a:xfrm>
          <a:prstGeom prst="rect">
            <a:avLst/>
          </a:prstGeom>
          <a:noFill/>
        </p:spPr>
        <p:txBody>
          <a:bodyPr vert="horz" wrap="square" lIns="0" tIns="0" rIns="0" bIns="0" rtlCol="0" anchor="t">
            <a:spAutoFit/>
          </a:bodyPr>
          <a:lstStyle/>
          <a:p>
            <a:r>
              <a:rPr lang="en-IN" sz="1500" b="1">
                <a:solidFill>
                  <a:srgbClr val="B0D652"/>
                </a:solidFill>
                <a:latin typeface="Aptos" panose="020B0004020202020204" pitchFamily="34" charset="0"/>
              </a:rPr>
              <a:t>4  BUILD</a:t>
            </a:r>
          </a:p>
        </p:txBody>
      </p:sp>
      <p:sp>
        <p:nvSpPr>
          <p:cNvPr id="18" name="TextBox 17">
            <a:extLst>
              <a:ext uri="{FF2B5EF4-FFF2-40B4-BE49-F238E27FC236}">
                <a16:creationId xmlns:a16="http://schemas.microsoft.com/office/drawing/2014/main" id="{AC51CBE3-E88F-E76C-853A-5A04F8C1DF47}"/>
              </a:ext>
            </a:extLst>
          </p:cNvPr>
          <p:cNvSpPr txBox="1"/>
          <p:nvPr/>
        </p:nvSpPr>
        <p:spPr>
          <a:xfrm>
            <a:off x="7531100" y="3390900"/>
            <a:ext cx="1803400" cy="246221"/>
          </a:xfrm>
          <a:prstGeom prst="rect">
            <a:avLst/>
          </a:prstGeom>
          <a:noFill/>
        </p:spPr>
        <p:txBody>
          <a:bodyPr vert="horz" wrap="square" lIns="0" tIns="0" rIns="0" bIns="0" rtlCol="0" anchor="t">
            <a:spAutoFit/>
          </a:bodyPr>
          <a:lstStyle/>
          <a:p>
            <a:r>
              <a:rPr lang="en-IN" sz="1600">
                <a:solidFill>
                  <a:srgbClr val="F8F6F4"/>
                </a:solidFill>
                <a:latin typeface="Aptos" panose="020B0004020202020204" pitchFamily="34" charset="0"/>
              </a:rPr>
              <a:t>Next.js → out/</a:t>
            </a:r>
          </a:p>
        </p:txBody>
      </p:sp>
      <p:sp>
        <p:nvSpPr>
          <p:cNvPr id="19" name="Rectangle: Rounded Corners 18">
            <a:extLst>
              <a:ext uri="{FF2B5EF4-FFF2-40B4-BE49-F238E27FC236}">
                <a16:creationId xmlns:a16="http://schemas.microsoft.com/office/drawing/2014/main" id="{DA99B06B-65EC-EF63-2641-721ABBDF4DC0}"/>
              </a:ext>
            </a:extLst>
          </p:cNvPr>
          <p:cNvSpPr/>
          <p:nvPr/>
        </p:nvSpPr>
        <p:spPr>
          <a:xfrm>
            <a:off x="9677400" y="2590800"/>
            <a:ext cx="2082800" cy="1600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1414CDD-F823-98C2-0251-83264832D2C0}"/>
              </a:ext>
            </a:extLst>
          </p:cNvPr>
          <p:cNvSpPr txBox="1"/>
          <p:nvPr/>
        </p:nvSpPr>
        <p:spPr>
          <a:xfrm>
            <a:off x="9829800" y="2857500"/>
            <a:ext cx="1778000" cy="230832"/>
          </a:xfrm>
          <a:prstGeom prst="rect">
            <a:avLst/>
          </a:prstGeom>
          <a:noFill/>
        </p:spPr>
        <p:txBody>
          <a:bodyPr vert="horz" wrap="square" lIns="0" tIns="0" rIns="0" bIns="0" rtlCol="0" anchor="t">
            <a:spAutoFit/>
          </a:bodyPr>
          <a:lstStyle/>
          <a:p>
            <a:r>
              <a:rPr lang="en-IN" sz="1500" b="1">
                <a:solidFill>
                  <a:srgbClr val="B0D652"/>
                </a:solidFill>
                <a:latin typeface="Aptos" panose="020B0004020202020204" pitchFamily="34" charset="0"/>
              </a:rPr>
              <a:t>5  DEPLOY</a:t>
            </a:r>
          </a:p>
        </p:txBody>
      </p:sp>
      <p:sp>
        <p:nvSpPr>
          <p:cNvPr id="21" name="TextBox 20">
            <a:extLst>
              <a:ext uri="{FF2B5EF4-FFF2-40B4-BE49-F238E27FC236}">
                <a16:creationId xmlns:a16="http://schemas.microsoft.com/office/drawing/2014/main" id="{9EDA6015-6B86-98A4-B3CA-A09CF5E44E9C}"/>
              </a:ext>
            </a:extLst>
          </p:cNvPr>
          <p:cNvSpPr txBox="1"/>
          <p:nvPr/>
        </p:nvSpPr>
        <p:spPr>
          <a:xfrm>
            <a:off x="9829800" y="3390900"/>
            <a:ext cx="1803400" cy="246221"/>
          </a:xfrm>
          <a:prstGeom prst="rect">
            <a:avLst/>
          </a:prstGeom>
          <a:noFill/>
        </p:spPr>
        <p:txBody>
          <a:bodyPr vert="horz" wrap="square" lIns="0" tIns="0" rIns="0" bIns="0" rtlCol="0" anchor="t">
            <a:spAutoFit/>
          </a:bodyPr>
          <a:lstStyle/>
          <a:p>
            <a:r>
              <a:rPr lang="en-IN" sz="1600">
                <a:solidFill>
                  <a:srgbClr val="F8F6F4"/>
                </a:solidFill>
                <a:latin typeface="Aptos" panose="020B0004020202020204" pitchFamily="34" charset="0"/>
              </a:rPr>
              <a:t>FTPS → Hostinger</a:t>
            </a:r>
          </a:p>
        </p:txBody>
      </p:sp>
      <p:sp>
        <p:nvSpPr>
          <p:cNvPr id="22" name="TextBox 21">
            <a:extLst>
              <a:ext uri="{FF2B5EF4-FFF2-40B4-BE49-F238E27FC236}">
                <a16:creationId xmlns:a16="http://schemas.microsoft.com/office/drawing/2014/main" id="{97668333-2D25-E8DD-1DF1-33117C93B6DA}"/>
              </a:ext>
            </a:extLst>
          </p:cNvPr>
          <p:cNvSpPr txBox="1"/>
          <p:nvPr/>
        </p:nvSpPr>
        <p:spPr>
          <a:xfrm>
            <a:off x="609600" y="4749800"/>
            <a:ext cx="10795000" cy="553998"/>
          </a:xfrm>
          <a:prstGeom prst="rect">
            <a:avLst/>
          </a:prstGeom>
          <a:noFill/>
        </p:spPr>
        <p:txBody>
          <a:bodyPr vert="horz" wrap="square" lIns="0" tIns="0" rIns="0" bIns="0" rtlCol="0" anchor="t">
            <a:spAutoFit/>
          </a:bodyPr>
          <a:lstStyle/>
          <a:p>
            <a:r>
              <a:rPr lang="en-US" sz="1800">
                <a:solidFill>
                  <a:srgbClr val="C8BEB5"/>
                </a:solidFill>
                <a:latin typeface="Aptos" panose="020B0004020202020204" pitchFamily="34" charset="0"/>
              </a:rPr>
              <a:t>Pull request par checks + build hote hain, par deployment nahi. main branch push ya manual Actions run par deployment trigger hota hai.</a:t>
            </a:r>
            <a:endParaRPr lang="en-IN" sz="1800">
              <a:solidFill>
                <a:srgbClr val="C8BEB5"/>
              </a:solidFill>
              <a:latin typeface="Aptos" panose="020B0004020202020204" pitchFamily="34" charset="0"/>
            </a:endParaRPr>
          </a:p>
        </p:txBody>
      </p:sp>
    </p:spTree>
    <p:extLst>
      <p:ext uri="{BB962C8B-B14F-4D97-AF65-F5344CB8AC3E}">
        <p14:creationId xmlns:p14="http://schemas.microsoft.com/office/powerpoint/2010/main" val="54748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3B1902-2302-DBC3-6B07-FE78251CCB14}"/>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709A188-831A-615F-1185-D6D8019AA6F1}"/>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EA68FB0F-455D-8CC5-C24B-EDB2275DA8E5}"/>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Maine repository mein kya configure kiya</a:t>
            </a:r>
          </a:p>
        </p:txBody>
      </p:sp>
      <p:sp>
        <p:nvSpPr>
          <p:cNvPr id="5" name="Rectangle 4">
            <a:extLst>
              <a:ext uri="{FF2B5EF4-FFF2-40B4-BE49-F238E27FC236}">
                <a16:creationId xmlns:a16="http://schemas.microsoft.com/office/drawing/2014/main" id="{55243CBB-3CC8-26B7-8714-937A89AA7B5D}"/>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8A86CD0-68DA-40C5-DC90-09E7327A77F5}"/>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4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9422BC3F-04DB-624D-2EE8-E0D47FEF8B86}"/>
              </a:ext>
            </a:extLst>
          </p:cNvPr>
          <p:cNvSpPr/>
          <p:nvPr/>
        </p:nvSpPr>
        <p:spPr>
          <a:xfrm>
            <a:off x="508000" y="1930400"/>
            <a:ext cx="5334000" cy="16764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F515AD4-55F7-6B8E-666B-5D038BE6D8DF}"/>
              </a:ext>
            </a:extLst>
          </p:cNvPr>
          <p:cNvSpPr/>
          <p:nvPr/>
        </p:nvSpPr>
        <p:spPr>
          <a:xfrm>
            <a:off x="508000" y="1930400"/>
            <a:ext cx="63500" cy="16764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497A25F-BAE1-EA26-05F4-7B089F915CBA}"/>
              </a:ext>
            </a:extLst>
          </p:cNvPr>
          <p:cNvSpPr txBox="1"/>
          <p:nvPr/>
        </p:nvSpPr>
        <p:spPr>
          <a:xfrm>
            <a:off x="762000" y="21336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Workflow file</a:t>
            </a:r>
          </a:p>
        </p:txBody>
      </p:sp>
      <p:sp>
        <p:nvSpPr>
          <p:cNvPr id="10" name="TextBox 9">
            <a:extLst>
              <a:ext uri="{FF2B5EF4-FFF2-40B4-BE49-F238E27FC236}">
                <a16:creationId xmlns:a16="http://schemas.microsoft.com/office/drawing/2014/main" id="{3FE813F8-7AD1-1568-3525-318BF509BA08}"/>
              </a:ext>
            </a:extLst>
          </p:cNvPr>
          <p:cNvSpPr txBox="1"/>
          <p:nvPr/>
        </p:nvSpPr>
        <p:spPr>
          <a:xfrm>
            <a:off x="762000" y="2603500"/>
            <a:ext cx="4851400" cy="400110"/>
          </a:xfrm>
          <a:prstGeom prst="rect">
            <a:avLst/>
          </a:prstGeom>
          <a:noFill/>
        </p:spPr>
        <p:txBody>
          <a:bodyPr vert="horz" wrap="square" lIns="0" tIns="0" rIns="0" bIns="0" rtlCol="0" anchor="t">
            <a:spAutoFit/>
          </a:bodyPr>
          <a:lstStyle/>
          <a:p>
            <a:r>
              <a:rPr lang="en-US" sz="1300">
                <a:solidFill>
                  <a:srgbClr val="C8BEB5"/>
                </a:solidFill>
                <a:latin typeface="Aptos" panose="020B0004020202020204" pitchFamily="34" charset="0"/>
              </a:rPr>
              <a:t>.github/workflows/deploy-hostinger.yml`nGitHub Actions: main push, pull request, manual run.</a:t>
            </a:r>
            <a:endParaRPr lang="en-IN" sz="1300">
              <a:solidFill>
                <a:srgbClr val="C8BEB5"/>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E4C895C-FB1A-561F-973B-47516983C6F6}"/>
              </a:ext>
            </a:extLst>
          </p:cNvPr>
          <p:cNvSpPr/>
          <p:nvPr/>
        </p:nvSpPr>
        <p:spPr>
          <a:xfrm>
            <a:off x="6223000" y="1930400"/>
            <a:ext cx="5461000" cy="16764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01CA9E0C-E628-99E7-0A4B-34EFFF1C7B99}"/>
              </a:ext>
            </a:extLst>
          </p:cNvPr>
          <p:cNvSpPr/>
          <p:nvPr/>
        </p:nvSpPr>
        <p:spPr>
          <a:xfrm>
            <a:off x="6223000" y="1930400"/>
            <a:ext cx="63500" cy="1676400"/>
          </a:xfrm>
          <a:prstGeom prst="rect">
            <a:avLst/>
          </a:prstGeom>
          <a:solidFill>
            <a:srgbClr val="B0D6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0650FB3-5917-0A63-E8C8-5D0176AF7188}"/>
              </a:ext>
            </a:extLst>
          </p:cNvPr>
          <p:cNvSpPr txBox="1"/>
          <p:nvPr/>
        </p:nvSpPr>
        <p:spPr>
          <a:xfrm>
            <a:off x="6477000" y="21336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Build checks</a:t>
            </a:r>
          </a:p>
        </p:txBody>
      </p:sp>
      <p:sp>
        <p:nvSpPr>
          <p:cNvPr id="14" name="TextBox 13">
            <a:extLst>
              <a:ext uri="{FF2B5EF4-FFF2-40B4-BE49-F238E27FC236}">
                <a16:creationId xmlns:a16="http://schemas.microsoft.com/office/drawing/2014/main" id="{0C37A30D-B7A4-DD74-F223-2112404CB139}"/>
              </a:ext>
            </a:extLst>
          </p:cNvPr>
          <p:cNvSpPr txBox="1"/>
          <p:nvPr/>
        </p:nvSpPr>
        <p:spPr>
          <a:xfrm>
            <a:off x="6477000" y="2603500"/>
            <a:ext cx="4978400" cy="400110"/>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Node.js 22 + npm ci`nnpm run lint`nnpm test`nnpm run build → static out/</a:t>
            </a:r>
          </a:p>
        </p:txBody>
      </p:sp>
      <p:sp>
        <p:nvSpPr>
          <p:cNvPr id="15" name="Rectangle: Rounded Corners 14">
            <a:extLst>
              <a:ext uri="{FF2B5EF4-FFF2-40B4-BE49-F238E27FC236}">
                <a16:creationId xmlns:a16="http://schemas.microsoft.com/office/drawing/2014/main" id="{63DC2D86-7599-A360-59C0-B81C7D0AF5D8}"/>
              </a:ext>
            </a:extLst>
          </p:cNvPr>
          <p:cNvSpPr/>
          <p:nvPr/>
        </p:nvSpPr>
        <p:spPr>
          <a:xfrm>
            <a:off x="508000" y="3937000"/>
            <a:ext cx="5334000" cy="18034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E7A432-99DC-311D-D484-E0429E2DDAB0}"/>
              </a:ext>
            </a:extLst>
          </p:cNvPr>
          <p:cNvSpPr/>
          <p:nvPr/>
        </p:nvSpPr>
        <p:spPr>
          <a:xfrm>
            <a:off x="508000" y="3937000"/>
            <a:ext cx="63500" cy="1803400"/>
          </a:xfrm>
          <a:prstGeom prst="rect">
            <a:avLst/>
          </a:prstGeom>
          <a:solidFill>
            <a:srgbClr val="FFB4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61EA0794-8E2D-AAC3-B892-F386EEE1FC96}"/>
              </a:ext>
            </a:extLst>
          </p:cNvPr>
          <p:cNvSpPr txBox="1"/>
          <p:nvPr/>
        </p:nvSpPr>
        <p:spPr>
          <a:xfrm>
            <a:off x="762000" y="41402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Deploy rule</a:t>
            </a:r>
          </a:p>
        </p:txBody>
      </p:sp>
      <p:sp>
        <p:nvSpPr>
          <p:cNvPr id="18" name="TextBox 17">
            <a:extLst>
              <a:ext uri="{FF2B5EF4-FFF2-40B4-BE49-F238E27FC236}">
                <a16:creationId xmlns:a16="http://schemas.microsoft.com/office/drawing/2014/main" id="{003B6651-3E0E-B2F2-3AF3-C35A4B90DE6D}"/>
              </a:ext>
            </a:extLst>
          </p:cNvPr>
          <p:cNvSpPr txBox="1"/>
          <p:nvPr/>
        </p:nvSpPr>
        <p:spPr>
          <a:xfrm>
            <a:off x="762000" y="4610100"/>
            <a:ext cx="4851400" cy="400110"/>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Sirf main branch ke successful build ke baad deploy step chalega. Pull request se live site overwrite nahi hoti.</a:t>
            </a:r>
          </a:p>
        </p:txBody>
      </p:sp>
      <p:sp>
        <p:nvSpPr>
          <p:cNvPr id="19" name="Rectangle: Rounded Corners 18">
            <a:extLst>
              <a:ext uri="{FF2B5EF4-FFF2-40B4-BE49-F238E27FC236}">
                <a16:creationId xmlns:a16="http://schemas.microsoft.com/office/drawing/2014/main" id="{F4B14B52-7864-EC31-1220-60009FC6C9EE}"/>
              </a:ext>
            </a:extLst>
          </p:cNvPr>
          <p:cNvSpPr/>
          <p:nvPr/>
        </p:nvSpPr>
        <p:spPr>
          <a:xfrm>
            <a:off x="6223000" y="3937000"/>
            <a:ext cx="5461000" cy="18034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359B2FF8-8C5D-9DAB-04F7-B35ED099AE46}"/>
              </a:ext>
            </a:extLst>
          </p:cNvPr>
          <p:cNvSpPr/>
          <p:nvPr/>
        </p:nvSpPr>
        <p:spPr>
          <a:xfrm>
            <a:off x="6223000" y="3937000"/>
            <a:ext cx="63500" cy="18034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DA350AED-F47A-8481-AD5F-30751C68F81A}"/>
              </a:ext>
            </a:extLst>
          </p:cNvPr>
          <p:cNvSpPr txBox="1"/>
          <p:nvPr/>
        </p:nvSpPr>
        <p:spPr>
          <a:xfrm>
            <a:off x="6477000" y="41402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Hostinger transfer</a:t>
            </a:r>
          </a:p>
        </p:txBody>
      </p:sp>
      <p:sp>
        <p:nvSpPr>
          <p:cNvPr id="22" name="TextBox 21">
            <a:extLst>
              <a:ext uri="{FF2B5EF4-FFF2-40B4-BE49-F238E27FC236}">
                <a16:creationId xmlns:a16="http://schemas.microsoft.com/office/drawing/2014/main" id="{E5312515-5D8C-B86E-1126-04F5E58A5B8D}"/>
              </a:ext>
            </a:extLst>
          </p:cNvPr>
          <p:cNvSpPr txBox="1"/>
          <p:nvPr/>
        </p:nvSpPr>
        <p:spPr>
          <a:xfrm>
            <a:off x="6477000" y="4610100"/>
            <a:ext cx="4978400" cy="400110"/>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SamKirkland/FTP-Deploy-Action`nFTPS • port 21 default`nSource: ./out/ • destination: FTP root (./)</a:t>
            </a:r>
          </a:p>
        </p:txBody>
      </p:sp>
    </p:spTree>
    <p:extLst>
      <p:ext uri="{BB962C8B-B14F-4D97-AF65-F5344CB8AC3E}">
        <p14:creationId xmlns:p14="http://schemas.microsoft.com/office/powerpoint/2010/main" val="126266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FE9E8D-44AA-5D88-5AF6-3696D5C6354C}"/>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AA5F9F8-94F3-6642-AE4C-496105592CC3}"/>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7EB5C545-3F8B-E93A-E639-551CD739752E}"/>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GitHub settings: Variables aur Secrets</a:t>
            </a:r>
          </a:p>
        </p:txBody>
      </p:sp>
      <p:sp>
        <p:nvSpPr>
          <p:cNvPr id="5" name="Rectangle 4">
            <a:extLst>
              <a:ext uri="{FF2B5EF4-FFF2-40B4-BE49-F238E27FC236}">
                <a16:creationId xmlns:a16="http://schemas.microsoft.com/office/drawing/2014/main" id="{D28237E0-03D4-3503-0123-89F49732EA97}"/>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F1476B9-EDBE-C660-8730-A752759A5310}"/>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5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69154FCF-0E9C-411C-9A07-0394E13AB93E}"/>
              </a:ext>
            </a:extLst>
          </p:cNvPr>
          <p:cNvSpPr/>
          <p:nvPr/>
        </p:nvSpPr>
        <p:spPr>
          <a:xfrm>
            <a:off x="508000" y="1905000"/>
            <a:ext cx="5334000" cy="3632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43EC3DC-9210-B524-424D-D808D5F881E5}"/>
              </a:ext>
            </a:extLst>
          </p:cNvPr>
          <p:cNvSpPr/>
          <p:nvPr/>
        </p:nvSpPr>
        <p:spPr>
          <a:xfrm>
            <a:off x="508000" y="1905000"/>
            <a:ext cx="63500" cy="3632200"/>
          </a:xfrm>
          <a:prstGeom prst="rect">
            <a:avLst/>
          </a:prstGeom>
          <a:solidFill>
            <a:srgbClr val="B0D6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E276ECC-986E-98D8-4774-F678B10B1051}"/>
              </a:ext>
            </a:extLst>
          </p:cNvPr>
          <p:cNvSpPr txBox="1"/>
          <p:nvPr/>
        </p:nvSpPr>
        <p:spPr>
          <a:xfrm>
            <a:off x="762000" y="21082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Repository Variables</a:t>
            </a:r>
          </a:p>
        </p:txBody>
      </p:sp>
      <p:sp>
        <p:nvSpPr>
          <p:cNvPr id="10" name="TextBox 9">
            <a:extLst>
              <a:ext uri="{FF2B5EF4-FFF2-40B4-BE49-F238E27FC236}">
                <a16:creationId xmlns:a16="http://schemas.microsoft.com/office/drawing/2014/main" id="{446549DF-FA71-21FC-1133-2B3016ED6838}"/>
              </a:ext>
            </a:extLst>
          </p:cNvPr>
          <p:cNvSpPr txBox="1"/>
          <p:nvPr/>
        </p:nvSpPr>
        <p:spPr>
          <a:xfrm>
            <a:off x="762000" y="2578100"/>
            <a:ext cx="4851400" cy="1400383"/>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NEXT_PUBLIC_SUPABASE_URL
NEXT_PUBLIC_SUPABASE_PUBLISHABLE_KEY
HOSTINGER_FTP_SERVER_DIR = ./
FTP login ke baad agar website root seedha khulta hai to ./ sahi path hai. public_html/ tabhi use karein jab us folder ke andar jana padta ho.</a:t>
            </a:r>
          </a:p>
        </p:txBody>
      </p:sp>
      <p:sp>
        <p:nvSpPr>
          <p:cNvPr id="11" name="Rectangle: Rounded Corners 10">
            <a:extLst>
              <a:ext uri="{FF2B5EF4-FFF2-40B4-BE49-F238E27FC236}">
                <a16:creationId xmlns:a16="http://schemas.microsoft.com/office/drawing/2014/main" id="{D2057880-2877-095B-850B-2EF8C2E403D9}"/>
              </a:ext>
            </a:extLst>
          </p:cNvPr>
          <p:cNvSpPr/>
          <p:nvPr/>
        </p:nvSpPr>
        <p:spPr>
          <a:xfrm>
            <a:off x="6223000" y="1905000"/>
            <a:ext cx="5461000" cy="36322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436BF25-2C6C-2835-99FC-02BFB297370E}"/>
              </a:ext>
            </a:extLst>
          </p:cNvPr>
          <p:cNvSpPr/>
          <p:nvPr/>
        </p:nvSpPr>
        <p:spPr>
          <a:xfrm>
            <a:off x="6223000" y="1905000"/>
            <a:ext cx="63500" cy="36322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F5F80A3D-150E-CFB8-0783-9A6A914EEC2A}"/>
              </a:ext>
            </a:extLst>
          </p:cNvPr>
          <p:cNvSpPr txBox="1"/>
          <p:nvPr/>
        </p:nvSpPr>
        <p:spPr>
          <a:xfrm>
            <a:off x="6477000" y="21082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Repository Secrets</a:t>
            </a:r>
          </a:p>
        </p:txBody>
      </p:sp>
      <p:sp>
        <p:nvSpPr>
          <p:cNvPr id="14" name="TextBox 13">
            <a:extLst>
              <a:ext uri="{FF2B5EF4-FFF2-40B4-BE49-F238E27FC236}">
                <a16:creationId xmlns:a16="http://schemas.microsoft.com/office/drawing/2014/main" id="{8B1C1B94-5DC9-49EA-0AA9-82BA878B96DC}"/>
              </a:ext>
            </a:extLst>
          </p:cNvPr>
          <p:cNvSpPr txBox="1"/>
          <p:nvPr/>
        </p:nvSpPr>
        <p:spPr>
          <a:xfrm>
            <a:off x="6477000" y="2578100"/>
            <a:ext cx="4978400" cy="1400383"/>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HOSTINGER_FTP_SERVER
HOSTINGER_FTP_USERNAME
HOSTINGER_FTP_PASSWORD
Server value: Hostinger ka exact FTP host/IP; ftp:// prefix nahi. Values GitHub mein chhupi rehti hain; password ko code/PPT/screenshot mein kabhi nahi daalna.</a:t>
            </a:r>
          </a:p>
        </p:txBody>
      </p:sp>
      <p:sp>
        <p:nvSpPr>
          <p:cNvPr id="15" name="TextBox 14">
            <a:extLst>
              <a:ext uri="{FF2B5EF4-FFF2-40B4-BE49-F238E27FC236}">
                <a16:creationId xmlns:a16="http://schemas.microsoft.com/office/drawing/2014/main" id="{BF5B053D-9B31-B86B-85DA-09E19AB7BBDB}"/>
              </a:ext>
            </a:extLst>
          </p:cNvPr>
          <p:cNvSpPr txBox="1"/>
          <p:nvPr/>
        </p:nvSpPr>
        <p:spPr>
          <a:xfrm>
            <a:off x="571500" y="5778500"/>
            <a:ext cx="10795000" cy="230832"/>
          </a:xfrm>
          <a:prstGeom prst="rect">
            <a:avLst/>
          </a:prstGeom>
          <a:noFill/>
        </p:spPr>
        <p:txBody>
          <a:bodyPr vert="horz" wrap="square" lIns="0" tIns="0" rIns="0" bIns="0" rtlCol="0" anchor="t">
            <a:spAutoFit/>
          </a:bodyPr>
          <a:lstStyle/>
          <a:p>
            <a:r>
              <a:rPr lang="en-US" sz="1500" b="1">
                <a:solidFill>
                  <a:srgbClr val="F8F6F4"/>
                </a:solidFill>
                <a:latin typeface="Aptos" panose="020B0004020202020204" pitchFamily="34" charset="0"/>
              </a:rPr>
              <a:t>Settings location: GitHub repo → Settings → Secrets and variables → Actions</a:t>
            </a:r>
            <a:endParaRPr lang="en-IN" sz="1500" b="1">
              <a:solidFill>
                <a:srgbClr val="F8F6F4"/>
              </a:solidFill>
              <a:latin typeface="Aptos" panose="020B0004020202020204" pitchFamily="34" charset="0"/>
            </a:endParaRPr>
          </a:p>
        </p:txBody>
      </p:sp>
    </p:spTree>
    <p:extLst>
      <p:ext uri="{BB962C8B-B14F-4D97-AF65-F5344CB8AC3E}">
        <p14:creationId xmlns:p14="http://schemas.microsoft.com/office/powerpoint/2010/main" val="116075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7130F9-F13A-BCED-531D-FAC3B9241602}"/>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F19018D-9B3C-6A6E-CEA7-3AA24CE4F597}"/>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D1C61E46-98A4-4336-FAA8-7D04DBF92D0B}"/>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Verification: kya pass hua, kya nahi</a:t>
            </a:r>
          </a:p>
        </p:txBody>
      </p:sp>
      <p:sp>
        <p:nvSpPr>
          <p:cNvPr id="5" name="Rectangle 4">
            <a:extLst>
              <a:ext uri="{FF2B5EF4-FFF2-40B4-BE49-F238E27FC236}">
                <a16:creationId xmlns:a16="http://schemas.microsoft.com/office/drawing/2014/main" id="{A6DE7605-FD11-D6F4-11E2-38A3606DDED0}"/>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9CE0433-2A7D-AEE4-4DC1-4DCFE8C1DB4E}"/>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6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33BB07DB-4E79-3C40-1DF1-A143D38C6B48}"/>
              </a:ext>
            </a:extLst>
          </p:cNvPr>
          <p:cNvSpPr/>
          <p:nvPr/>
        </p:nvSpPr>
        <p:spPr>
          <a:xfrm>
            <a:off x="508000" y="1905000"/>
            <a:ext cx="5334000" cy="3429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338EF41-A035-FFDD-2E31-473BEB46C236}"/>
              </a:ext>
            </a:extLst>
          </p:cNvPr>
          <p:cNvSpPr/>
          <p:nvPr/>
        </p:nvSpPr>
        <p:spPr>
          <a:xfrm>
            <a:off x="508000" y="1905000"/>
            <a:ext cx="63500" cy="3429000"/>
          </a:xfrm>
          <a:prstGeom prst="rect">
            <a:avLst/>
          </a:prstGeom>
          <a:solidFill>
            <a:srgbClr val="B0D6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E4D921B-6DDC-26D2-2C0A-5DB3ECC0C0D5}"/>
              </a:ext>
            </a:extLst>
          </p:cNvPr>
          <p:cNvSpPr txBox="1"/>
          <p:nvPr/>
        </p:nvSpPr>
        <p:spPr>
          <a:xfrm>
            <a:off x="762000" y="21082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PASS ✅</a:t>
            </a:r>
          </a:p>
        </p:txBody>
      </p:sp>
      <p:sp>
        <p:nvSpPr>
          <p:cNvPr id="10" name="TextBox 9">
            <a:extLst>
              <a:ext uri="{FF2B5EF4-FFF2-40B4-BE49-F238E27FC236}">
                <a16:creationId xmlns:a16="http://schemas.microsoft.com/office/drawing/2014/main" id="{B3CEC431-BDC9-0D5E-2A14-7A9694878175}"/>
              </a:ext>
            </a:extLst>
          </p:cNvPr>
          <p:cNvSpPr txBox="1"/>
          <p:nvPr/>
        </p:nvSpPr>
        <p:spPr>
          <a:xfrm>
            <a:off x="762000" y="2578100"/>
            <a:ext cx="4851400" cy="600164"/>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GitHub par Variables/Secrets ke required names mil gaye.`n`nGitHub Actions: npm ci`nLint`nTests`nRequired settings check`nNext.js static production build</a:t>
            </a:r>
          </a:p>
        </p:txBody>
      </p:sp>
      <p:sp>
        <p:nvSpPr>
          <p:cNvPr id="11" name="Rectangle: Rounded Corners 10">
            <a:extLst>
              <a:ext uri="{FF2B5EF4-FFF2-40B4-BE49-F238E27FC236}">
                <a16:creationId xmlns:a16="http://schemas.microsoft.com/office/drawing/2014/main" id="{E1C34FBE-9FE7-D5D2-B941-26105285AF14}"/>
              </a:ext>
            </a:extLst>
          </p:cNvPr>
          <p:cNvSpPr/>
          <p:nvPr/>
        </p:nvSpPr>
        <p:spPr>
          <a:xfrm>
            <a:off x="6223000" y="1905000"/>
            <a:ext cx="5461000" cy="3429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0D3D8FC8-1F9B-401F-16C2-CBF48A611518}"/>
              </a:ext>
            </a:extLst>
          </p:cNvPr>
          <p:cNvSpPr/>
          <p:nvPr/>
        </p:nvSpPr>
        <p:spPr>
          <a:xfrm>
            <a:off x="6223000" y="1905000"/>
            <a:ext cx="63500" cy="3429000"/>
          </a:xfrm>
          <a:prstGeom prst="rect">
            <a:avLst/>
          </a:prstGeom>
          <a:solidFill>
            <a:srgbClr val="FF4A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843E586-1CFF-88DD-53A4-6A8327C1DE04}"/>
              </a:ext>
            </a:extLst>
          </p:cNvPr>
          <p:cNvSpPr txBox="1"/>
          <p:nvPr/>
        </p:nvSpPr>
        <p:spPr>
          <a:xfrm>
            <a:off x="6477000" y="21082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FAIL ❌ — Hostinger upload</a:t>
            </a:r>
          </a:p>
        </p:txBody>
      </p:sp>
      <p:sp>
        <p:nvSpPr>
          <p:cNvPr id="14" name="TextBox 13">
            <a:extLst>
              <a:ext uri="{FF2B5EF4-FFF2-40B4-BE49-F238E27FC236}">
                <a16:creationId xmlns:a16="http://schemas.microsoft.com/office/drawing/2014/main" id="{DFEA3B3D-CB92-A7B7-42E8-083851A2BD7D}"/>
              </a:ext>
            </a:extLst>
          </p:cNvPr>
          <p:cNvSpPr txBox="1"/>
          <p:nvPr/>
        </p:nvSpPr>
        <p:spPr>
          <a:xfrm>
            <a:off x="6477000" y="2578100"/>
            <a:ext cx="4978400" cy="800219"/>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FTPS deployment step mein ECONNRESET (data socket) aaya.`n`nLog mein _next/ folder banate waqt connection reset hua.`n`n5,447 files / 79.1 MB initial sync.`n`nMatlab deploy successful nahi hua; live update confirm nahi hai.</a:t>
            </a:r>
          </a:p>
        </p:txBody>
      </p:sp>
      <p:sp>
        <p:nvSpPr>
          <p:cNvPr id="15" name="TextBox 14">
            <a:extLst>
              <a:ext uri="{FF2B5EF4-FFF2-40B4-BE49-F238E27FC236}">
                <a16:creationId xmlns:a16="http://schemas.microsoft.com/office/drawing/2014/main" id="{EA099132-D6EA-89C3-E0E7-2F58E83BEC73}"/>
              </a:ext>
            </a:extLst>
          </p:cNvPr>
          <p:cNvSpPr txBox="1"/>
          <p:nvPr/>
        </p:nvSpPr>
        <p:spPr>
          <a:xfrm>
            <a:off x="571500" y="5651500"/>
            <a:ext cx="10795000" cy="230832"/>
          </a:xfrm>
          <a:prstGeom prst="rect">
            <a:avLst/>
          </a:prstGeom>
          <a:noFill/>
        </p:spPr>
        <p:txBody>
          <a:bodyPr vert="horz" wrap="square" lIns="0" tIns="0" rIns="0" bIns="0" rtlCol="0" anchor="t">
            <a:spAutoFit/>
          </a:bodyPr>
          <a:lstStyle/>
          <a:p>
            <a:r>
              <a:rPr lang="en-US" sz="1500" b="1">
                <a:solidFill>
                  <a:srgbClr val="FFB420"/>
                </a:solidFill>
                <a:latin typeface="Aptos" panose="020B0004020202020204" pitchFamily="34" charset="0"/>
              </a:rPr>
              <a:t>Latest verified run: 38516030161  |  14 Oct 2026</a:t>
            </a:r>
            <a:endParaRPr lang="en-IN" sz="1500" b="1">
              <a:solidFill>
                <a:srgbClr val="FFB420"/>
              </a:solidFill>
              <a:latin typeface="Aptos" panose="020B0004020202020204" pitchFamily="34" charset="0"/>
            </a:endParaRPr>
          </a:p>
        </p:txBody>
      </p:sp>
    </p:spTree>
    <p:extLst>
      <p:ext uri="{BB962C8B-B14F-4D97-AF65-F5344CB8AC3E}">
        <p14:creationId xmlns:p14="http://schemas.microsoft.com/office/powerpoint/2010/main" val="1081713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0202DD-95C7-BC93-8222-A1EAD374AFEC}"/>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26CDBCE-63A3-B712-BA73-8DC81C51A57F}"/>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BFBD79C4-6461-AE9B-48D5-2D14E7D4EAE2}"/>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Abhi blocker kya hai? Next steps</a:t>
            </a:r>
          </a:p>
        </p:txBody>
      </p:sp>
      <p:sp>
        <p:nvSpPr>
          <p:cNvPr id="5" name="Rectangle 4">
            <a:extLst>
              <a:ext uri="{FF2B5EF4-FFF2-40B4-BE49-F238E27FC236}">
                <a16:creationId xmlns:a16="http://schemas.microsoft.com/office/drawing/2014/main" id="{32B02912-5C18-F9B1-C532-227C0513B185}"/>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CA18000-1AF8-2B9B-BE51-D7F5942019A8}"/>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7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5CC7DC06-F358-92C1-8D74-A6998AA8A7C8}"/>
              </a:ext>
            </a:extLst>
          </p:cNvPr>
          <p:cNvSpPr/>
          <p:nvPr/>
        </p:nvSpPr>
        <p:spPr>
          <a:xfrm>
            <a:off x="508000" y="1905000"/>
            <a:ext cx="5334000" cy="3556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149C33E-14E3-F9A2-2614-593A21FBC589}"/>
              </a:ext>
            </a:extLst>
          </p:cNvPr>
          <p:cNvSpPr/>
          <p:nvPr/>
        </p:nvSpPr>
        <p:spPr>
          <a:xfrm>
            <a:off x="508000" y="1905000"/>
            <a:ext cx="63500" cy="3556000"/>
          </a:xfrm>
          <a:prstGeom prst="rect">
            <a:avLst/>
          </a:prstGeom>
          <a:solidFill>
            <a:srgbClr val="FFB4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D083FC9-E7E6-7022-B0D3-E837FCA455C7}"/>
              </a:ext>
            </a:extLst>
          </p:cNvPr>
          <p:cNvSpPr txBox="1"/>
          <p:nvPr/>
        </p:nvSpPr>
        <p:spPr>
          <a:xfrm>
            <a:off x="762000" y="21082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Log se kya pata chala</a:t>
            </a:r>
          </a:p>
        </p:txBody>
      </p:sp>
      <p:sp>
        <p:nvSpPr>
          <p:cNvPr id="10" name="TextBox 9">
            <a:extLst>
              <a:ext uri="{FF2B5EF4-FFF2-40B4-BE49-F238E27FC236}">
                <a16:creationId xmlns:a16="http://schemas.microsoft.com/office/drawing/2014/main" id="{54A055D5-21D2-A686-BDCE-59ED9EFFE858}"/>
              </a:ext>
            </a:extLst>
          </p:cNvPr>
          <p:cNvSpPr txBox="1"/>
          <p:nvPr/>
        </p:nvSpPr>
        <p:spPr>
          <a:xfrm>
            <a:off x="762000" y="2578100"/>
            <a:ext cx="4851400" cy="600164"/>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Credentials/settings step pass hui aur server listing hui. Lekin FTPS data connection ne folder create karte waqt reset kiya.`n`nFTP path ./ bhi try hua; issue phir aaya. Sirf path badalne se fix nahi hua.</a:t>
            </a:r>
          </a:p>
        </p:txBody>
      </p:sp>
      <p:sp>
        <p:nvSpPr>
          <p:cNvPr id="11" name="Rectangle: Rounded Corners 10">
            <a:extLst>
              <a:ext uri="{FF2B5EF4-FFF2-40B4-BE49-F238E27FC236}">
                <a16:creationId xmlns:a16="http://schemas.microsoft.com/office/drawing/2014/main" id="{59180E9F-5FC4-4817-D46C-B1B15A691F89}"/>
              </a:ext>
            </a:extLst>
          </p:cNvPr>
          <p:cNvSpPr/>
          <p:nvPr/>
        </p:nvSpPr>
        <p:spPr>
          <a:xfrm>
            <a:off x="6223000" y="1905000"/>
            <a:ext cx="5461000" cy="3556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2EC286D-D2B4-223F-FFD0-AE22D75C6B1B}"/>
              </a:ext>
            </a:extLst>
          </p:cNvPr>
          <p:cNvSpPr/>
          <p:nvPr/>
        </p:nvSpPr>
        <p:spPr>
          <a:xfrm>
            <a:off x="6223000" y="1905000"/>
            <a:ext cx="63500" cy="35560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5E30807-98DB-451B-B4F6-447741B26E1E}"/>
              </a:ext>
            </a:extLst>
          </p:cNvPr>
          <p:cNvSpPr txBox="1"/>
          <p:nvPr/>
        </p:nvSpPr>
        <p:spPr>
          <a:xfrm>
            <a:off x="6477000" y="21082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Hostinger mein verify karna</a:t>
            </a:r>
          </a:p>
        </p:txBody>
      </p:sp>
      <p:sp>
        <p:nvSpPr>
          <p:cNvPr id="14" name="TextBox 13">
            <a:extLst>
              <a:ext uri="{FF2B5EF4-FFF2-40B4-BE49-F238E27FC236}">
                <a16:creationId xmlns:a16="http://schemas.microsoft.com/office/drawing/2014/main" id="{2043F51D-57CE-4B49-51B9-B4448C9A6FE6}"/>
              </a:ext>
            </a:extLst>
          </p:cNvPr>
          <p:cNvSpPr txBox="1"/>
          <p:nvPr/>
        </p:nvSpPr>
        <p:spPr>
          <a:xfrm>
            <a:off x="6477000" y="2578100"/>
            <a:ext cx="4978400" cy="800219"/>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FTP account ko website root mein write + folder create permission hai?`n`nPassive FTP/FTPS data ports aur GitHub Actions runner ka connection allow hai?`n`nAgar Hostinger SSH/SFTP deta hai, SFTP deployment par switch consider karein.</a:t>
            </a:r>
          </a:p>
        </p:txBody>
      </p:sp>
      <p:sp>
        <p:nvSpPr>
          <p:cNvPr id="15" name="TextBox 14">
            <a:extLst>
              <a:ext uri="{FF2B5EF4-FFF2-40B4-BE49-F238E27FC236}">
                <a16:creationId xmlns:a16="http://schemas.microsoft.com/office/drawing/2014/main" id="{21F2ECA6-0D39-6483-0948-5AD575A6ABA4}"/>
              </a:ext>
            </a:extLst>
          </p:cNvPr>
          <p:cNvSpPr txBox="1"/>
          <p:nvPr/>
        </p:nvSpPr>
        <p:spPr>
          <a:xfrm>
            <a:off x="571500" y="5778500"/>
            <a:ext cx="10795000" cy="216085"/>
          </a:xfrm>
          <a:prstGeom prst="rect">
            <a:avLst/>
          </a:prstGeom>
          <a:noFill/>
        </p:spPr>
        <p:txBody>
          <a:bodyPr vert="horz" wrap="square" lIns="0" tIns="0" rIns="0" bIns="0" rtlCol="0" anchor="t">
            <a:spAutoFit/>
          </a:bodyPr>
          <a:lstStyle/>
          <a:p>
            <a:r>
              <a:rPr lang="en-US" sz="1400" b="1">
                <a:solidFill>
                  <a:srgbClr val="F8F6F4"/>
                </a:solidFill>
                <a:latin typeface="Aptos" panose="020B0004020202020204" pitchFamily="34" charset="0"/>
              </a:rPr>
              <a:t>Hostinger support ko error: “FTPS passive data connection reset from GitHub Actions while creating _next folder.”</a:t>
            </a:r>
            <a:endParaRPr lang="en-IN" sz="1400" b="1">
              <a:solidFill>
                <a:srgbClr val="F8F6F4"/>
              </a:solidFill>
              <a:latin typeface="Aptos" panose="020B0004020202020204" pitchFamily="34" charset="0"/>
            </a:endParaRPr>
          </a:p>
        </p:txBody>
      </p:sp>
    </p:spTree>
    <p:extLst>
      <p:ext uri="{BB962C8B-B14F-4D97-AF65-F5344CB8AC3E}">
        <p14:creationId xmlns:p14="http://schemas.microsoft.com/office/powerpoint/2010/main" val="782508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31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CD3345-E665-D037-622C-2EA4D1C74B39}"/>
              </a:ext>
            </a:extLst>
          </p:cNvPr>
          <p:cNvSpPr/>
          <p:nvPr/>
        </p:nvSpPr>
        <p:spPr>
          <a:xfrm>
            <a:off x="0" y="0"/>
            <a:ext cx="12192000" cy="1016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46DE9CF-43B9-C513-7FFC-8EA2FE1CF185}"/>
              </a:ext>
            </a:extLst>
          </p:cNvPr>
          <p:cNvSpPr txBox="1"/>
          <p:nvPr/>
        </p:nvSpPr>
        <p:spPr>
          <a:xfrm>
            <a:off x="482600" y="279400"/>
            <a:ext cx="8890000" cy="169277"/>
          </a:xfrm>
          <a:prstGeom prst="rect">
            <a:avLst/>
          </a:prstGeom>
          <a:noFill/>
        </p:spPr>
        <p:txBody>
          <a:bodyPr vert="horz" wrap="square" lIns="0" tIns="0" rIns="0" bIns="0" rtlCol="0" anchor="t">
            <a:spAutoFit/>
          </a:bodyPr>
          <a:lstStyle/>
          <a:p>
            <a:r>
              <a:rPr lang="en-IN" sz="1100" b="1">
                <a:solidFill>
                  <a:srgbClr val="C8BEB5"/>
                </a:solidFill>
                <a:latin typeface="Aptos" panose="020B0004020202020204" pitchFamily="34" charset="0"/>
              </a:rPr>
              <a:t>FITFUEL  |  PROJECT WALKTHROUGH</a:t>
            </a:r>
          </a:p>
        </p:txBody>
      </p:sp>
      <p:sp>
        <p:nvSpPr>
          <p:cNvPr id="4" name="TextBox 3">
            <a:extLst>
              <a:ext uri="{FF2B5EF4-FFF2-40B4-BE49-F238E27FC236}">
                <a16:creationId xmlns:a16="http://schemas.microsoft.com/office/drawing/2014/main" id="{78A41020-B088-C76E-FA84-2CFC2791A717}"/>
              </a:ext>
            </a:extLst>
          </p:cNvPr>
          <p:cNvSpPr txBox="1"/>
          <p:nvPr/>
        </p:nvSpPr>
        <p:spPr>
          <a:xfrm>
            <a:off x="482600" y="736600"/>
            <a:ext cx="11176000" cy="430887"/>
          </a:xfrm>
          <a:prstGeom prst="rect">
            <a:avLst/>
          </a:prstGeom>
          <a:noFill/>
        </p:spPr>
        <p:txBody>
          <a:bodyPr vert="horz" wrap="square" lIns="0" tIns="0" rIns="0" bIns="0" rtlCol="0" anchor="t">
            <a:spAutoFit/>
          </a:bodyPr>
          <a:lstStyle/>
          <a:p>
            <a:r>
              <a:rPr lang="en-IN" sz="2800" b="1">
                <a:solidFill>
                  <a:srgbClr val="F8F6F4"/>
                </a:solidFill>
                <a:latin typeface="Aptos" panose="020B0004020202020204" pitchFamily="34" charset="0"/>
              </a:rPr>
              <a:t>Presentation ka short summary</a:t>
            </a:r>
          </a:p>
        </p:txBody>
      </p:sp>
      <p:sp>
        <p:nvSpPr>
          <p:cNvPr id="5" name="Rectangle 4">
            <a:extLst>
              <a:ext uri="{FF2B5EF4-FFF2-40B4-BE49-F238E27FC236}">
                <a16:creationId xmlns:a16="http://schemas.microsoft.com/office/drawing/2014/main" id="{7DD630DC-1660-49DE-AFEE-BA2C448167F1}"/>
              </a:ext>
            </a:extLst>
          </p:cNvPr>
          <p:cNvSpPr/>
          <p:nvPr/>
        </p:nvSpPr>
        <p:spPr>
          <a:xfrm>
            <a:off x="482600" y="1574800"/>
            <a:ext cx="11226800" cy="19050"/>
          </a:xfrm>
          <a:prstGeom prst="rect">
            <a:avLst/>
          </a:prstGeom>
          <a:solidFill>
            <a:srgbClr val="382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8336998-429F-3B71-6E5F-D9B2000DD39B}"/>
              </a:ext>
            </a:extLst>
          </p:cNvPr>
          <p:cNvSpPr txBox="1"/>
          <p:nvPr/>
        </p:nvSpPr>
        <p:spPr>
          <a:xfrm>
            <a:off x="482600" y="6477000"/>
            <a:ext cx="11226800" cy="153888"/>
          </a:xfrm>
          <a:prstGeom prst="rect">
            <a:avLst/>
          </a:prstGeom>
          <a:noFill/>
        </p:spPr>
        <p:txBody>
          <a:bodyPr vert="horz" wrap="square" lIns="0" tIns="0" rIns="0" bIns="0" rtlCol="0" anchor="t">
            <a:spAutoFit/>
          </a:bodyPr>
          <a:lstStyle/>
          <a:p>
            <a:r>
              <a:rPr lang="it-IT" sz="1000">
                <a:solidFill>
                  <a:srgbClr val="C8BEB5"/>
                </a:solidFill>
                <a:latin typeface="Aptos" panose="020B0004020202020204" pitchFamily="34" charset="0"/>
              </a:rPr>
              <a:t>FITFUEL  •  CI/CD  •  14 Oct 2026                                      8 / 8</a:t>
            </a:r>
            <a:endParaRPr lang="en-IN" sz="1000">
              <a:solidFill>
                <a:srgbClr val="C8BEB5"/>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F6EF6BE6-6F24-135C-1752-D97A38D8F836}"/>
              </a:ext>
            </a:extLst>
          </p:cNvPr>
          <p:cNvSpPr/>
          <p:nvPr/>
        </p:nvSpPr>
        <p:spPr>
          <a:xfrm>
            <a:off x="508000" y="1905000"/>
            <a:ext cx="11176000" cy="19050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480D62D-B1B0-C645-DD5E-2F14138FD0CC}"/>
              </a:ext>
            </a:extLst>
          </p:cNvPr>
          <p:cNvSpPr txBox="1"/>
          <p:nvPr/>
        </p:nvSpPr>
        <p:spPr>
          <a:xfrm>
            <a:off x="825500" y="2209800"/>
            <a:ext cx="10541000" cy="1538883"/>
          </a:xfrm>
          <a:prstGeom prst="rect">
            <a:avLst/>
          </a:prstGeom>
          <a:noFill/>
        </p:spPr>
        <p:txBody>
          <a:bodyPr vert="horz" wrap="square" lIns="0" tIns="0" rIns="0" bIns="0" rtlCol="0" anchor="t">
            <a:spAutoFit/>
          </a:bodyPr>
          <a:lstStyle/>
          <a:p>
            <a:r>
              <a:rPr lang="en-IN" sz="2000">
                <a:solidFill>
                  <a:srgbClr val="F8F6F4"/>
                </a:solidFill>
                <a:latin typeface="Aptos" panose="020B0004020202020204" pitchFamily="34" charset="0"/>
              </a:rPr>
              <a:t>“Maine FITFUEL ke liye GitHub Actions workflow banaya. Ab main branch par code push hote hi lint, tests aur Next.js static build automatic chalte hain. Sab pass hone par workflow FTPS se Hostinger par out/ upload karne ki koshish karta hai. Checks aur build pass hain, lekin Hostinger data connection ECONNRESET de raha hai—isi liye live deployment abhi successful nahi hua. Hostinger FTP permissions/passive connection ya SFTP option confirm karna next step hai.”</a:t>
            </a:r>
          </a:p>
        </p:txBody>
      </p:sp>
      <p:sp>
        <p:nvSpPr>
          <p:cNvPr id="9" name="Rectangle: Rounded Corners 8">
            <a:extLst>
              <a:ext uri="{FF2B5EF4-FFF2-40B4-BE49-F238E27FC236}">
                <a16:creationId xmlns:a16="http://schemas.microsoft.com/office/drawing/2014/main" id="{41BD7AF5-D68C-34B4-8490-A8E314C5E839}"/>
              </a:ext>
            </a:extLst>
          </p:cNvPr>
          <p:cNvSpPr/>
          <p:nvPr/>
        </p:nvSpPr>
        <p:spPr>
          <a:xfrm>
            <a:off x="508000" y="4241800"/>
            <a:ext cx="5334000" cy="14478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4DD827B-780E-D622-08E3-1F08E83ECE8C}"/>
              </a:ext>
            </a:extLst>
          </p:cNvPr>
          <p:cNvSpPr/>
          <p:nvPr/>
        </p:nvSpPr>
        <p:spPr>
          <a:xfrm>
            <a:off x="508000" y="4241800"/>
            <a:ext cx="63500" cy="1447800"/>
          </a:xfrm>
          <a:prstGeom prst="rect">
            <a:avLst/>
          </a:prstGeom>
          <a:solidFill>
            <a:srgbClr val="FF78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C352369-1EA2-400C-2E5E-72EDE05A69E8}"/>
              </a:ext>
            </a:extLst>
          </p:cNvPr>
          <p:cNvSpPr txBox="1"/>
          <p:nvPr/>
        </p:nvSpPr>
        <p:spPr>
          <a:xfrm>
            <a:off x="762000" y="4445000"/>
            <a:ext cx="4851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Kaun si files badli</a:t>
            </a:r>
          </a:p>
        </p:txBody>
      </p:sp>
      <p:sp>
        <p:nvSpPr>
          <p:cNvPr id="12" name="TextBox 11">
            <a:extLst>
              <a:ext uri="{FF2B5EF4-FFF2-40B4-BE49-F238E27FC236}">
                <a16:creationId xmlns:a16="http://schemas.microsoft.com/office/drawing/2014/main" id="{82AB5C67-B95B-BFE7-5791-707C1DCE0B94}"/>
              </a:ext>
            </a:extLst>
          </p:cNvPr>
          <p:cNvSpPr txBox="1"/>
          <p:nvPr/>
        </p:nvSpPr>
        <p:spPr>
          <a:xfrm>
            <a:off x="762000" y="4914900"/>
            <a:ext cx="4851400" cy="400110"/>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.github/workflows/deploy-hostinger.yml`nREADME.md`nTypeScript build fix: src/lib/diet.ts</a:t>
            </a:r>
          </a:p>
        </p:txBody>
      </p:sp>
      <p:sp>
        <p:nvSpPr>
          <p:cNvPr id="13" name="Rectangle: Rounded Corners 12">
            <a:extLst>
              <a:ext uri="{FF2B5EF4-FFF2-40B4-BE49-F238E27FC236}">
                <a16:creationId xmlns:a16="http://schemas.microsoft.com/office/drawing/2014/main" id="{A79BBDB6-1383-A620-049E-BA93E71445BD}"/>
              </a:ext>
            </a:extLst>
          </p:cNvPr>
          <p:cNvSpPr/>
          <p:nvPr/>
        </p:nvSpPr>
        <p:spPr>
          <a:xfrm>
            <a:off x="6223000" y="4241800"/>
            <a:ext cx="5461000" cy="1447800"/>
          </a:xfrm>
          <a:prstGeom prst="roundRect">
            <a:avLst/>
          </a:prstGeom>
          <a:solidFill>
            <a:srgbClr val="2C221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6A8B20E-473F-98E7-FBBA-678C76B7A008}"/>
              </a:ext>
            </a:extLst>
          </p:cNvPr>
          <p:cNvSpPr/>
          <p:nvPr/>
        </p:nvSpPr>
        <p:spPr>
          <a:xfrm>
            <a:off x="6223000" y="4241800"/>
            <a:ext cx="63500" cy="1447800"/>
          </a:xfrm>
          <a:prstGeom prst="rect">
            <a:avLst/>
          </a:prstGeom>
          <a:solidFill>
            <a:srgbClr val="B0D6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D3E4270-F74D-BBF1-7CCA-E3FB35FAD280}"/>
              </a:ext>
            </a:extLst>
          </p:cNvPr>
          <p:cNvSpPr txBox="1"/>
          <p:nvPr/>
        </p:nvSpPr>
        <p:spPr>
          <a:xfrm>
            <a:off x="6477000" y="4445000"/>
            <a:ext cx="4978400" cy="261610"/>
          </a:xfrm>
          <a:prstGeom prst="rect">
            <a:avLst/>
          </a:prstGeom>
          <a:noFill/>
        </p:spPr>
        <p:txBody>
          <a:bodyPr vert="horz" wrap="square" lIns="0" tIns="0" rIns="0" bIns="0" rtlCol="0" anchor="t">
            <a:spAutoFit/>
          </a:bodyPr>
          <a:lstStyle/>
          <a:p>
            <a:r>
              <a:rPr lang="en-IN" sz="1700" b="1">
                <a:solidFill>
                  <a:srgbClr val="F8F6F4"/>
                </a:solidFill>
                <a:latin typeface="Aptos" panose="020B0004020202020204" pitchFamily="34" charset="0"/>
              </a:rPr>
              <a:t>Kab chalega</a:t>
            </a:r>
          </a:p>
        </p:txBody>
      </p:sp>
      <p:sp>
        <p:nvSpPr>
          <p:cNvPr id="16" name="TextBox 15">
            <a:extLst>
              <a:ext uri="{FF2B5EF4-FFF2-40B4-BE49-F238E27FC236}">
                <a16:creationId xmlns:a16="http://schemas.microsoft.com/office/drawing/2014/main" id="{B629232C-EDA9-7968-B9FE-77FE6944BE1F}"/>
              </a:ext>
            </a:extLst>
          </p:cNvPr>
          <p:cNvSpPr txBox="1"/>
          <p:nvPr/>
        </p:nvSpPr>
        <p:spPr>
          <a:xfrm>
            <a:off x="6477000" y="4914900"/>
            <a:ext cx="4978400" cy="400110"/>
          </a:xfrm>
          <a:prstGeom prst="rect">
            <a:avLst/>
          </a:prstGeom>
          <a:noFill/>
        </p:spPr>
        <p:txBody>
          <a:bodyPr vert="horz" wrap="square" lIns="0" tIns="0" rIns="0" bIns="0" rtlCol="0" anchor="t">
            <a:spAutoFit/>
          </a:bodyPr>
          <a:lstStyle/>
          <a:p>
            <a:r>
              <a:rPr lang="en-IN" sz="1300">
                <a:solidFill>
                  <a:srgbClr val="C8BEB5"/>
                </a:solidFill>
                <a:latin typeface="Aptos" panose="020B0004020202020204" pitchFamily="34" charset="0"/>
              </a:rPr>
              <a:t>Changes commit + main par push karne ke baad. Workflow khud local files ko GitHub par push nahi karta.</a:t>
            </a:r>
          </a:p>
        </p:txBody>
      </p:sp>
    </p:spTree>
    <p:extLst>
      <p:ext uri="{BB962C8B-B14F-4D97-AF65-F5344CB8AC3E}">
        <p14:creationId xmlns:p14="http://schemas.microsoft.com/office/powerpoint/2010/main" val="3294970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935</Words>
  <Application>Microsoft Office PowerPoint</Application>
  <PresentationFormat>Custom</PresentationFormat>
  <Paragraphs>73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Aayush Sharma</dc:creator>
  <cp:lastModifiedBy>Aayush Sharma</cp:lastModifiedBy>
  <cp:revision>1</cp:revision>
  <dcterms:created xsi:type="dcterms:W3CDTF">2026-10-14T05:27:27Z</dcterms:created>
  <dcterms:modified xsi:type="dcterms:W3CDTF">2026-10-14T05:27:27Z</dcterms:modified>
</cp:coreProperties>
</file>